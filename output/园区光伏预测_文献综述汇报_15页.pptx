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94" r:id="rId2"/>
    <p:sldId id="269" r:id="rId5"/>
    <p:sldId id="274" r:id="rId7"/>
    <p:sldId id="286" r:id="rId8"/>
    <p:sldId id="298" r:id="rId9"/>
    <p:sldId id="270" r:id="rId11"/>
    <p:sldId id="288" r:id="rId13"/>
    <p:sldId id="272" r:id="rId15"/>
    <p:sldId id="300" r:id="rId19"/>
    <p:sldId id="279" r:id="rId21"/>
    <p:sldId id="280" r:id="rId22"/>
    <p:sldId id="273" r:id="rId24"/>
    <p:sldId id="293" r:id="rId26"/>
    <p:sldId id="282" r:id="rId27"/>
    <p:sldId id="260" r:id="rId28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E4C"/>
    <a:srgbClr val="E2F0D9"/>
    <a:srgbClr val="F1F8EC"/>
    <a:srgbClr val="015529"/>
    <a:srgbClr val="548235"/>
    <a:srgbClr val="014723"/>
    <a:srgbClr val="D8E6E7"/>
    <a:srgbClr val="299D80"/>
    <a:srgbClr val="129473"/>
    <a:srgbClr val="276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42" autoAdjust="0"/>
    <p:restoredTop sz="94660"/>
  </p:normalViewPr>
  <p:slideViewPr>
    <p:cSldViewPr snapToGrid="0">
      <p:cViewPr>
        <p:scale>
          <a:sx n="50" d="100"/>
          <a:sy n="50" d="100"/>
        </p:scale>
        <p:origin x="636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4" Type="http://schemas.openxmlformats.org/officeDocument/2006/relationships/slide" Target="slides/slide23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88542-8802-4B87-9091-59CD01CCE8CD}" type="datetimeFigureOut">
              <a:rPr lang="zh-CN" altLang="en-US" smtClean="0"/>
              <a:t>2025-02-21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02F37-9261-4F8B-9652-2016387BD2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15分钟数据：时距与点数对应</a:t>
            </a:r>
          </a:p>
          <a:p>
            <a:r>
              <a:t>1 / 2 / 4 小时：分别对应4 / 8 / 16个未来点，用于近端变化与日内修正比较。</a:t>
            </a:r>
          </a:p>
          <a:p>
            <a:r>
              <a:t>8 / 12 小时：分别对应32 / 48个未来点，检验较长日内或班次窗口。</a:t>
            </a:r>
          </a:p>
          <a:p>
            <a:r>
              <a:t>18 / 24 小时：分别对应72 / 96个未来点；72点是18小时，不能称为8小时。</a:t>
            </a:r>
          </a:p>
          <a:p>
            <a:r>
              <a:t>历史与日界：过去96点为24小时；滚动24小时不一定等于次日自然日。</a:t>
            </a:r>
          </a:p>
          <a:p>
            <a:r>
              <a:t>点数 N=H/Δt。文档中的 seq_len=96、pred_len=72 是原综述讨论设置，需与实际代码核对。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汇报逻辑与核心结论</a:t>
            </a:r>
          </a:p>
          <a:p>
            <a:r>
              <a:t>需求驱动：从购电、储能与负荷决策倒推预测窗口，而非先指定模型时距。</a:t>
            </a:r>
          </a:p>
          <a:p>
            <a:r>
              <a:t>研究现状：方法与标准框架已形成；统一基准、真实预报输入与风险评价是关键。</a:t>
            </a:r>
          </a:p>
          <a:p>
            <a:r>
              <a:t>研究空白：园区有用时距、信息贡献转换、关键事件与运行收益仍需本地验证。</a:t>
            </a:r>
          </a:p>
          <a:p>
            <a:r>
              <a:t>实验路线：边界核验 → 多时距对照 → SHAP与消融 → 事件评价 → 调度回测。</a:t>
            </a:r>
          </a:p>
          <a:p>
            <a:r>
              <a:t>资料范围：用户提供的叙述性文献综合；不是穷尽性系统综述。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园区预测服务于哪些决策</a:t>
            </a:r>
          </a:p>
          <a:p>
            <a:r>
              <a:t>近期控制：储能充放电、备用预留与突降应对，需关注响应时间及可用提前量。</a:t>
            </a:r>
          </a:p>
          <a:p>
            <a:r>
              <a:t>日内安排：可移负荷、生产班次、充电设施和需求响应，需覆盖实际执行窗口。</a:t>
            </a:r>
          </a:p>
          <a:p>
            <a:r>
              <a:t>日前计划：购电与市场申报需在截止前发布，并覆盖次日计划窗口。</a:t>
            </a:r>
          </a:p>
          <a:p>
            <a:r>
              <a:t>业务边界：并网调度标准提供基准，具体园区参数与经济价值仍需本地验证。</a:t>
            </a:r>
          </a:p>
          <a:p>
            <a:r>
              <a:t>依据综述 [1–5,9]；自发自用、交易与虚拟电厂场景应区分。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预测需求：从精度走向可用性</a:t>
            </a:r>
          </a:p>
          <a:p>
            <a:r>
              <a:t>对象与数据：明确交流侧可用功率、实发功率或净负荷；记录容量、限发与故障。</a:t>
            </a:r>
          </a:p>
          <a:p>
            <a:r>
              <a:t>时空尺度：时距、输出间隔、更新频率与历史窗口分开；确定分区或园区聚合。</a:t>
            </a:r>
          </a:p>
          <a:p>
            <a:r>
              <a:t>误差与风险：兼顾偏差、电量、概率校准、爬坡事件及关键天气下的表现。</a:t>
            </a:r>
          </a:p>
          <a:p>
            <a:r>
              <a:t>运行与维护：关注费用、弃光、SOC风险、系统延迟、缺测回退与跨季节泛化。</a:t>
            </a:r>
          </a:p>
          <a:p>
            <a:r>
              <a:t>依据综述 [1–4,7,9,11–21]。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国内外研究现状：主要进展</a:t>
            </a:r>
          </a:p>
          <a:p>
            <a:r>
              <a:t>多源、多时距：历史功率与未来天气融合；空间相关、多时间尺度与深度模型已有研究。</a:t>
            </a:r>
          </a:p>
          <a:p>
            <a:r>
              <a:t>评价体系：标准与研究覆盖确定性、概率和基准技能；跨论文口径仍难直接比较。</a:t>
            </a:r>
          </a:p>
          <a:p>
            <a:r>
              <a:t>解释与事件：SHAP、遮挡因素与专门爬坡指标已出现，结论依赖站点与解释目标。</a:t>
            </a:r>
          </a:p>
          <a:p>
            <a:r>
              <a:t>预测接入调度：日前—日内两阶段调度及随机控制已有案例，长期园区实证仍需补充。</a:t>
            </a:r>
          </a:p>
          <a:p>
            <a:r>
              <a:t>依据综述 [6–24]；案例、仿真与长期实证属于不同证据层级。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四个时间参数必须分别定义</a:t>
            </a:r>
          </a:p>
          <a:p>
            <a:r>
              <a:t>预测时距 H：从发布时刻向未来覆盖多久；决定未来输出终点。</a:t>
            </a:r>
          </a:p>
          <a:p>
            <a:r>
              <a:t>输出间隔 Δt：相邻预测点的时间间隔；本研究候选固定为15分钟。</a:t>
            </a:r>
          </a:p>
          <a:p>
            <a:r>
              <a:t>更新频率 τ：多久重新发布一版预测；应同时记录数据延迟与预报版本。</a:t>
            </a:r>
          </a:p>
          <a:p>
            <a:r>
              <a:t>历史窗口 L：使用过去多久的数据；第一轮固定24小时，避免同时改变多个变量。</a:t>
            </a:r>
          </a:p>
          <a:p>
            <a:r>
              <a:t>例：H=4小时、Δt=15分钟、τ=15分钟、L=24小时，四者各自独立。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变量重要性与输入精度的边界</a:t>
            </a:r>
          </a:p>
          <a:p>
            <a:r>
              <a:t>准确性：输出与真实功率的差距：用独立测试期评价模型误差。</a:t>
            </a:r>
          </a:p>
          <a:p>
            <a:r>
              <a:t>重要性：特定模型、样本与目标的归因；排序不构成跨园区通用规律。</a:t>
            </a:r>
          </a:p>
          <a:p>
            <a:r>
              <a:t>输入精度：传感器或天气预报的误差；高SHAP贡献不能给出精度门槛。</a:t>
            </a:r>
          </a:p>
          <a:p>
            <a:r>
              <a:t>SHAP输出目标：若解释未来16点平均功率，只对应4小时平均输出；应分步解释并做重训练消融。</a:t>
            </a:r>
          </a:p>
          <a:p>
            <a:r>
              <a:t>依据综述 [12–14,18]；相关输入可能共享贡献，SHAP不能直接证明物理因果。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评价设计：四层证据</a:t>
            </a:r>
          </a:p>
          <a:p>
            <a:r>
              <a:t>数值与基准：MAE、RMSE、容量归一化误差、偏差及持续性基准技能；逐提前量报告。</a:t>
            </a:r>
          </a:p>
          <a:p>
            <a:r>
              <a:t>电量与事件：窗口累计电量偏差；突降幅度、时刻、召回率、误报率和有效提前量。</a:t>
            </a:r>
          </a:p>
          <a:p>
            <a:r>
              <a:t>概率与轨迹：覆盖率与宽度联合报告，辅以Pinball loss/CRPS；区分逐点与轨迹风险。</a:t>
            </a:r>
          </a:p>
          <a:p>
            <a:r>
              <a:t>运行效果：在相同负荷、电价、储能和约束下比较费用、弃光、峰值购电与SOC越限。</a:t>
            </a:r>
          </a:p>
          <a:p>
            <a:r>
              <a:t>依据综述 [4,15–21]；接近零功率时不宜将MAPE作为唯一指标。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优先研究空白与可检验问题</a:t>
            </a:r>
          </a:p>
          <a:p>
            <a:r>
              <a:t>有用时距：新增远期信息何时不再改善决策？以1–24小时对照与滚动回测检验。</a:t>
            </a:r>
          </a:p>
          <a:p>
            <a:r>
              <a:t>信息贡献转换：历史功率与未来天气的增益何时变化？按时距、天气、季节解释并消融。</a:t>
            </a:r>
          </a:p>
          <a:p>
            <a:r>
              <a:t>关键事件风险：突降能提前多久识别？用固定事件规则评估漏报、误报与备用需求。</a:t>
            </a:r>
          </a:p>
          <a:p>
            <a:r>
              <a:t>可靠性与迁移：跨设备、季节和预报服务变化后是否失效？开展外推、缺测与延迟测试。</a:t>
            </a:r>
          </a:p>
          <a:p>
            <a:r>
              <a:t>研究空白是基于综述提出的本地验证问题，不意味着相关领域从未研究。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建议研究路线与实验控制</a:t>
            </a:r>
          </a:p>
          <a:p>
            <a:r>
              <a:t>数据边界：核对测点、容量、时间戳、限发、故障及天气发布时间；排除未来信息泄漏。</a:t>
            </a:r>
          </a:p>
          <a:p>
            <a:r>
              <a:t>时距对照：固定15分钟粒度和测试期，对照1、2、4、8、12、18、24小时及持续性基准。</a:t>
            </a:r>
          </a:p>
          <a:p>
            <a:r>
              <a:t>解释与事件：分步/分组SHAP、重训练消融；预先确定突降阈值与事件匹配窗口。</a:t>
            </a:r>
          </a:p>
          <a:p>
            <a:r>
              <a:t>价值与稳定性：补齐负荷、电价、储能和约束后做调度回测，再验证季节和设备迁移。</a:t>
            </a:r>
          </a:p>
          <a:p>
            <a:r>
              <a:t>前向输入须为发布时可获得的真实天气预报；未来实测天气仅用于理论上界分析。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总结与预期成果</a:t>
            </a:r>
          </a:p>
          <a:p>
            <a:r>
              <a:t>核心判断：预测时距由应用窗口、信息可用性、技能与运行收益共同决定。</a:t>
            </a:r>
          </a:p>
          <a:p>
            <a:r>
              <a:t>方法贡献：形成逐提前量误差、信息增益与关键事件能力之间的可复现证据。</a:t>
            </a:r>
          </a:p>
          <a:p>
            <a:r>
              <a:t>成果形式：时距对照图、天气/季节分层结果、SHAP与消融比较、事件与运行评价。</a:t>
            </a:r>
          </a:p>
          <a:p>
            <a:r>
              <a:t>结论边界：缺少负荷、电价、储能与约束时，只能比较预测性能及信息贡献，不能声称经济最优。</a:t>
            </a:r>
          </a:p>
          <a:p>
            <a:r>
              <a:t>本汇报基于提供的文献综述整理，未加入虚构实验数据或收益。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完整参考文献（沿用原综述，未独立重新核验）：</a:t>
            </a:r>
          </a:p>
          <a:p>
            <a:r>
              <a:t>[1] 国家市场监督管理总局, 国家标准化管理委员会. GB/T 19964—2024 光伏发电站接入电力系统技术规定[S]. 2024-03-15. 国家标准信息公共服务平台：https://openstd.samr.gov.cn/bzgk/std/newGbInfo?hcno=40D8691DFD7EC3CBA423CCBA65D262F3</a:t>
            </a:r>
          </a:p>
          <a:p>
            <a:r>
              <a:t>[2] 国家市场监督管理总局, 国家标准化管理委员会. GB/T 40607—2021 调度侧风电或光伏功率预测系统技术要求[S]. 2021-10-11. https://openstd.samr.gov.cn/bzgk/std/newGbInfo?hcno=A86838E2F9FF5DCE3975125156E89D52</a:t>
            </a:r>
          </a:p>
          <a:p>
            <a:r>
              <a:t>[3] 国家能源局. NB/T 32031—2025 光伏发电功率预测系统功能规范[S]. 2025-09-28发布，2026-03-28实施. 全国标准信息公共服务平台：https://std.samr.gov.cn/hb/search/stdHBDetailed?id=461E291C9283AB7EE06397BE0A0A7DFF</a:t>
            </a:r>
          </a:p>
          <a:p>
            <a:r>
              <a:t>[4] 中国电工技术学会. T/CES 139—2022 光伏发电功率概率预测技术要求[S]. 2022-09-26发布，2022-09-28实施. https://www.ces.org.cn/res/ces/pdfreader/TCES_139-2022_%E3%80%8A%E5%85%89%E4%BC%8F%E5%8F%91%E7%94%B5%E5%8A%9F%E7%8E%87%E6%A6%82%E7%8E%87%E9%A2%84%E6%B5%8B%E6%8A%80%E6%9C%AF%E8%A6%81%E6%B1%82%E3%80%8Ba.pdf</a:t>
            </a:r>
          </a:p>
          <a:p>
            <a:r>
              <a:t>[5] 国家发展改革委, 工业和信息化部, 国家能源局. 关于开展零碳园区建设的通知: 发改环资〔2025〕910号[Z]. 2025-06-30. https://zfxxgk.ndrc.gov.cn/web/iteminfo.jsp?id=20523</a:t>
            </a:r>
          </a:p>
          <a:p>
            <a:r>
              <a:t>[6] 董存, 王铮, 白捷予, 等. 光伏发电功率超短期预测方法综述[J]. 高电压技术, 2023, 49(7): 2938-2951. DOI:10.13336/j.1003-6520.hve.20220974.</a:t>
            </a:r>
          </a:p>
          <a:p>
            <a:r>
              <a:t>[7] 董明, 李晓枫, 杨章, 等. 基于数据驱动的分布式光伏发电功率预测方法研究进展[J]. 电网与清洁能源, 2024, 40(1): 8-17. DOI:10.3969/j.issn.1674-3814.2024.01.002. CNKI记录：https://cnki.istiz.org.cn/kcms/detail/detail.aspx?dbcode=CJFQ&amp;dbname=CJFD2024&amp;filename=SXFD202401002</a:t>
            </a:r>
          </a:p>
          <a:p>
            <a:r>
              <a:t>[8] 赖昌伟, 黎静华, 陈博, 等. 光伏发电出力预测技术研究综述[J]. 电工技术学报, 2019, 34(6): 1201-1217. DOI:10.19595/j.cnki.1000-6753.tces.180326.</a:t>
            </a:r>
          </a:p>
          <a:p>
            <a:r>
              <a:t>[9] 魏春晖, 单林森, 胡大栋, 等. 面向需求响应的园区虚拟电厂优化调度策略[J]. 中国电力, 2025, 58(6): 112-121. DOI:10.11930/j.issn.1004-9649.202410059.</a:t>
            </a:r>
          </a:p>
          <a:p>
            <a:r>
              <a:t>[10] 李增伟, 王娅云, 张容福, 等. 基于SE-CNN-BiLSTM与改进Transformer的光伏功率多时间尺度预测方法[J]. 浙江电力, 2026, 45(3): 120-130. DOI:10.19585/j.zjdl.202603011.</a:t>
            </a:r>
          </a:p>
          <a:p>
            <a:r>
              <a:t>[11] 严华江, 章坚民, 胡瑛俊, 等. 考虑空间相关性的分布式光伏发电出力预测及误差评价指标研究[J]. 浙江电力, 2020, 39(3): 54-60. DOI:10.19585/j.zjdl.202003009. 万方记录：https://d.wanfangdata.com.cn/periodical/zjdl202003009</a:t>
            </a:r>
          </a:p>
          <a:p>
            <a:r>
              <a:t>[12] Fu J, Sun Y, Li Y, et al. An investigation of photovoltaic power forecasting in buildings considering shadow effects: Modeling approach and SHAP analysis[J]. Renewable Energy, 2025, 245: 122821. DOI:10.1016/j.renene.2025.122821.</a:t>
            </a:r>
          </a:p>
          <a:p>
            <a:r>
              <a:t>[13] Mitrentsis G, Lens H. An interpretable probabilistic model for short-term solar power forecasting using natural gradient boosting[J]. Applied Energy, 2022, 309: 118473. DOI:10.1016/j.apenergy.2021.118473.</a:t>
            </a:r>
          </a:p>
          <a:p>
            <a:r>
              <a:t>[14] Tufail S. Explainable AI in solar PV forecasting: A systematic review of models, explainers, and physical drivers[J]. Solar Compass, 2026, 19: 100182. DOI:10.1016/j.solcom.2026.100182.</a:t>
            </a:r>
          </a:p>
          <a:p>
            <a:r>
              <a:t>[15] Yang D, Alessandrini S, Antonanzas J, et al. Verification of deterministic solar forecasts[J]. Solar Energy, 2020, 210: 20-37. DOI:10.1016/j.solener.2020.04.019.</a:t>
            </a:r>
          </a:p>
          <a:p>
            <a:r>
              <a:t>[16] Nguyen T N, Müsgens F. What drives the accuracy of PV output forecasts?[J]. Applied Energy, 2022, 323: 119603. DOI:10.1016/j.apenergy.2022.119603.</a:t>
            </a:r>
          </a:p>
          <a:p>
            <a:r>
              <a:t>[17] Lauret P, Alonso-Suárez R, Amaro e Silva R, et al. The added value of combining solar irradiance data and forecasts: A probabilistic benchmarking exercise[J]. Renewable Energy, 2024, 237: 121574. DOI:10.1016/j.renene.2024.121574.</a:t>
            </a:r>
          </a:p>
          <a:p>
            <a:r>
              <a:t>[18] Polášek T, Čadík M. Predicting photovoltaic power production using high-uncertainty weather forecasts[J]. Applied Energy, 2023, 339: 120989. DOI:10.1016/j.apenergy.2023.120989.</a:t>
            </a:r>
          </a:p>
          <a:p>
            <a:r>
              <a:t>[19] Nouri B, Fabel Y, Blum N, et al. Ramp Rate Metric Suitable for Solar Forecasting[J]. Solar RRL, 2024, 8(24): 2400468. DOI:10.1002/solr.202400468.</a:t>
            </a:r>
          </a:p>
          <a:p>
            <a:r>
              <a:t>[20] Gandhi O, Zhang W, Kumar D S, et al. The value of solar forecasts and the cost of their errors: A review[J]. Renewable and Sustainable Energy Reviews, 2024, 189: 113915. DOI:10.1016/j.rser.2023.113915.</a:t>
            </a:r>
          </a:p>
          <a:p>
            <a:r>
              <a:t>[21] Brown P, Göl M. Bayesian probabilistic photovoltaic power forecasting and stochastic model-predictive control for an agricultural microgrid[J]. Solar Energy, 2026, 304: 114197. DOI:10.1016/j.solener.2025.114197.</a:t>
            </a:r>
          </a:p>
          <a:p>
            <a:r>
              <a:t>[22] Zhang Y, Zhang Y, Dai Z, et al. Rethinking the use of deep learning methods for photovoltaic power forecasting[J]. Nature Communications, 2026. DOI:10.1038/s41467-026-73817-3.</a:t>
            </a:r>
          </a:p>
          <a:p>
            <a:r>
              <a:t>[23] 朱涛, 杨欢红, 肖峰, 等. 基于改进灰狼算法和TCN-QRF的超短期光伏出力概率预测[J]. 浙江电力, 2024, 43(8): 85-93. DOI:10.19585/j.zjdl.202408010.</a:t>
            </a:r>
          </a:p>
          <a:p>
            <a:r>
              <a:t>[24] 蒋建东, 周才期, 常轶哲, 等. 基于时序误差分布分析的光伏功率区间预测[J]. 郑州大学学报(理学版), 2026, 58(3): 86-94. DOI:10.13705/j.issn.1671-6841.2024155.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完整参考文献（沿用原综述，未独立重新核验）：</a:t>
            </a:r>
          </a:p>
          <a:p>
            <a:r>
              <a:t>[1] 国家市场监督管理总局, 国家标准化管理委员会. GB/T 19964—2024 光伏发电站接入电力系统技术规定[S]. 2024-03-15. 国家标准信息公共服务平台：https://openstd.samr.gov.cn/bzgk/std/newGbInfo?hcno=40D8691DFD7EC3CBA423CCBA65D262F3</a:t>
            </a:r>
          </a:p>
          <a:p>
            <a:r>
              <a:t>[2] 国家市场监督管理总局, 国家标准化管理委员会. GB/T 40607—2021 调度侧风电或光伏功率预测系统技术要求[S]. 2021-10-11. https://openstd.samr.gov.cn/bzgk/std/newGbInfo?hcno=A86838E2F9FF5DCE3975125156E89D52</a:t>
            </a:r>
          </a:p>
          <a:p>
            <a:r>
              <a:t>[3] 国家能源局. NB/T 32031—2025 光伏发电功率预测系统功能规范[S]. 2025-09-28发布，2026-03-28实施. 全国标准信息公共服务平台：https://std.samr.gov.cn/hb/search/stdHBDetailed?id=461E291C9283AB7EE06397BE0A0A7DFF</a:t>
            </a:r>
          </a:p>
          <a:p>
            <a:r>
              <a:t>[4] 中国电工技术学会. T/CES 139—2022 光伏发电功率概率预测技术要求[S]. 2022-09-26发布，2022-09-28实施. https://www.ces.org.cn/res/ces/pdfreader/TCES_139-2022_%E3%80%8A%E5%85%89%E4%BC%8F%E5%8F%91%E7%94%B5%E5%8A%9F%E7%8E%87%E6%A6%82%E7%8E%87%E9%A2%84%E6%B5%8B%E6%8A%80%E6%9C%AF%E8%A6%81%E6%B1%82%E3%80%8Ba.pdf</a:t>
            </a:r>
          </a:p>
          <a:p>
            <a:r>
              <a:t>[5] 国家发展改革委, 工业和信息化部, 国家能源局. 关于开展零碳园区建设的通知: 发改环资〔2025〕910号[Z]. 2025-06-30. https://zfxxgk.ndrc.gov.cn/web/iteminfo.jsp?id=20523</a:t>
            </a:r>
          </a:p>
          <a:p>
            <a:r>
              <a:t>[6] 董存, 王铮, 白捷予, 等. 光伏发电功率超短期预测方法综述[J]. 高电压技术, 2023, 49(7): 2938-2951. DOI:10.13336/j.1003-6520.hve.20220974.</a:t>
            </a:r>
          </a:p>
          <a:p>
            <a:r>
              <a:t>[7] 董明, 李晓枫, 杨章, 等. 基于数据驱动的分布式光伏发电功率预测方法研究进展[J]. 电网与清洁能源, 2024, 40(1): 8-17. DOI:10.3969/j.issn.1674-3814.2024.01.002. CNKI记录：https://cnki.istiz.org.cn/kcms/detail/detail.aspx?dbcode=CJFQ&amp;dbname=CJFD2024&amp;filename=SXFD202401002</a:t>
            </a:r>
          </a:p>
          <a:p>
            <a:r>
              <a:t>[8] 赖昌伟, 黎静华, 陈博, 等. 光伏发电出力预测技术研究综述[J]. 电工技术学报, 2019, 34(6): 1201-1217. DOI:10.19595/j.cnki.1000-6753.tces.180326.</a:t>
            </a:r>
          </a:p>
          <a:p>
            <a:r>
              <a:t>[9] 魏春晖, 单林森, 胡大栋, 等. 面向需求响应的园区虚拟电厂优化调度策略[J]. 中国电力, 2025, 58(6): 112-121. DOI:10.11930/j.issn.1004-9649.202410059.</a:t>
            </a:r>
          </a:p>
          <a:p>
            <a:r>
              <a:t>[10] 李增伟, 王娅云, 张容福, 等. 基于SE-CNN-BiLSTM与改进Transformer的光伏功率多时间尺度预测方法[J]. 浙江电力, 2026, 45(3): 120-130. DOI:10.19585/j.zjdl.202603011.</a:t>
            </a:r>
          </a:p>
          <a:p>
            <a:r>
              <a:t>[11] 严华江, 章坚民, 胡瑛俊, 等. 考虑空间相关性的分布式光伏发电出力预测及误差评价指标研究[J]. 浙江电力, 2020, 39(3): 54-60. DOI:10.19585/j.zjdl.202003009. 万方记录：https://d.wanfangdata.com.cn/periodical/zjdl202003009</a:t>
            </a:r>
          </a:p>
          <a:p>
            <a:r>
              <a:t>[12] Fu J, Sun Y, Li Y, et al. An investigation of photovoltaic power forecasting in buildings considering shadow effects: Modeling approach and SHAP analysis[J]. Renewable Energy, 2025, 245: 122821. DOI:10.1016/j.renene.2025.122821.</a:t>
            </a:r>
          </a:p>
          <a:p>
            <a:r>
              <a:t>[13] Mitrentsis G, Lens H. An interpretable probabilistic model for short-term solar power forecasting using natural gradient boosting[J]. Applied Energy, 2022, 309: 118473. DOI:10.1016/j.apenergy.2021.118473.</a:t>
            </a:r>
          </a:p>
          <a:p>
            <a:r>
              <a:t>[14] Tufail S. Explainable AI in solar PV forecasting: A systematic review of models, explainers, and physical drivers[J]. Solar Compass, 2026, 19: 100182. DOI:10.1016/j.solcom.2026.100182.</a:t>
            </a:r>
          </a:p>
          <a:p>
            <a:r>
              <a:t>[15] Yang D, Alessandrini S, Antonanzas J, et al. Verification of deterministic solar forecasts[J]. Solar Energy, 2020, 210: 20-37. DOI:10.1016/j.solener.2020.04.019.</a:t>
            </a:r>
          </a:p>
          <a:p>
            <a:r>
              <a:t>[16] Nguyen T N, Müsgens F. What drives the accuracy of PV output forecasts?[J]. Applied Energy, 2022, 323: 119603. DOI:10.1016/j.apenergy.2022.119603.</a:t>
            </a:r>
          </a:p>
          <a:p>
            <a:r>
              <a:t>[17] Lauret P, Alonso-Suárez R, Amaro e Silva R, et al. The added value of combining solar irradiance data and forecasts: A probabilistic benchmarking exercise[J]. Renewable Energy, 2024, 237: 121574. DOI:10.1016/j.renene.2024.121574.</a:t>
            </a:r>
          </a:p>
          <a:p>
            <a:r>
              <a:t>[18] Polášek T, Čadík M. Predicting photovoltaic power production using high-uncertainty weather forecasts[J]. Applied Energy, 2023, 339: 120989. DOI:10.1016/j.apenergy.2023.120989.</a:t>
            </a:r>
          </a:p>
          <a:p>
            <a:r>
              <a:t>[19] Nouri B, Fabel Y, Blum N, et al. Ramp Rate Metric Suitable for Solar Forecasting[J]. Solar RRL, 2024, 8(24): 2400468. DOI:10.1002/solr.202400468.</a:t>
            </a:r>
          </a:p>
          <a:p>
            <a:r>
              <a:t>[20] Gandhi O, Zhang W, Kumar D S, et al. The value of solar forecasts and the cost of their errors: A review[J]. Renewable and Sustainable Energy Reviews, 2024, 189: 113915. DOI:10.1016/j.rser.2023.113915.</a:t>
            </a:r>
          </a:p>
          <a:p>
            <a:r>
              <a:t>[21] Brown P, Göl M. Bayesian probabilistic photovoltaic power forecasting and stochastic model-predictive control for an agricultural microgrid[J]. Solar Energy, 2026, 304: 114197. DOI:10.1016/j.solener.2025.114197.</a:t>
            </a:r>
          </a:p>
          <a:p>
            <a:r>
              <a:t>[22] Zhang Y, Zhang Y, Dai Z, et al. Rethinking the use of deep learning methods for photovoltaic power forecasting[J]. Nature Communications, 2026. DOI:10.1038/s41467-026-73817-3.</a:t>
            </a:r>
          </a:p>
          <a:p>
            <a:r>
              <a:t>[23] 朱涛, 杨欢红, 肖峰, 等. 基于改进灰狼算法和TCN-QRF的超短期光伏出力概率预测[J]. 浙江电力, 2024, 43(8): 85-93. DOI:10.19585/j.zjdl.202408010.</a:t>
            </a:r>
          </a:p>
          <a:p>
            <a:r>
              <a:t>[24] 蒋建东, 周才期, 常轶哲, 等. 基于时序误差分布分析的光伏功率区间预测[J]. 郑州大学学报(理学版), 2026, 58(3): 86-94. DOI:10.13705/j.issn.1671-6841.2024155.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89C00-3007-445F-903C-C55D6E6A648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0.jp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20.jpg"/><Relationship Id="rId6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Relationship Id="rId3" Type="http://schemas.openxmlformats.org/officeDocument/2006/relationships/image" Target="../media/image5.png"/><Relationship Id="rId4" Type="http://schemas.openxmlformats.org/officeDocument/2006/relationships/image" Target="../media/image21.jp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.jpg"/><Relationship Id="rId4" Type="http://schemas.openxmlformats.org/officeDocument/2006/relationships/oleObject" Target="../embeddings/oleObject1.bin"/><Relationship Id="rId5" Type="http://schemas.openxmlformats.org/officeDocument/2006/relationships/image" Target="../media/image7.emf"/><Relationship Id="rId6" Type="http://schemas.openxmlformats.org/officeDocument/2006/relationships/image" Target="../media/image11.png"/><Relationship Id="rId7" Type="http://schemas.openxmlformats.org/officeDocument/2006/relationships/image" Target="../media/image22.jpg"/><Relationship Id="rId8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.jpg"/><Relationship Id="rId4" Type="http://schemas.openxmlformats.org/officeDocument/2006/relationships/oleObject" Target="../embeddings/oleObject1.bin"/><Relationship Id="rId5" Type="http://schemas.openxmlformats.org/officeDocument/2006/relationships/image" Target="../media/image7.emf"/><Relationship Id="rId6" Type="http://schemas.openxmlformats.org/officeDocument/2006/relationships/image" Target="../media/image11.png"/><Relationship Id="rId7" Type="http://schemas.openxmlformats.org/officeDocument/2006/relationships/image" Target="../media/image25.jpg"/><Relationship Id="rId8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5.png"/><Relationship Id="rId4" Type="http://schemas.openxmlformats.org/officeDocument/2006/relationships/image" Target="../media/image9.jpe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4" Type="http://schemas.openxmlformats.org/officeDocument/2006/relationships/image" Target="../media/image7.emf"/><Relationship Id="rId5" Type="http://schemas.openxmlformats.org/officeDocument/2006/relationships/image" Target="../media/image11.png"/><Relationship Id="rId6" Type="http://schemas.openxmlformats.org/officeDocument/2006/relationships/image" Target="../media/image27.jpg"/><Relationship Id="rId7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8.jp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4086-F3BC-FFB6-CA0C-58DA79DA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9FC01C48-B016-3BD0-D9AB-C6A9E407C170}"/>
              </a:ext>
            </a:extLst>
          </p:cNvPr>
          <p:cNvGrpSpPr/>
          <p:nvPr/>
        </p:nvGrpSpPr>
        <p:grpSpPr>
          <a:xfrm>
            <a:off x="-436888" y="-1728379"/>
            <a:ext cx="12895588" cy="8837254"/>
            <a:chOff x="154818" y="694772"/>
            <a:chExt cx="12895588" cy="8837254"/>
          </a:xfrm>
        </p:grpSpPr>
        <p:pic>
          <p:nvPicPr>
            <p:cNvPr id="27" name="Picture 26" descr="666f0dd63200642429aae2c8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895" y="1829966"/>
              <a:ext cx="12229811" cy="7643631"/>
            </a:xfrm>
            <a:prstGeom prst="rect">
              <a:avLst/>
            </a:prstGeom>
          </p:spPr>
        </p:pic>
        <p:sp>
          <p:nvSpPr>
            <p:cNvPr id="25" name="淘宝-想搞设计PPT(倒卖必究)-25">
              <a:extLst>
                <a:ext uri="{FF2B5EF4-FFF2-40B4-BE49-F238E27FC236}">
                  <a16:creationId xmlns:a16="http://schemas.microsoft.com/office/drawing/2014/main" id="{831333D2-E89E-610F-0934-ADC252C648D3}"/>
                </a:ext>
              </a:extLst>
            </p:cNvPr>
            <p:cNvSpPr/>
            <p:nvPr/>
          </p:nvSpPr>
          <p:spPr>
            <a:xfrm>
              <a:off x="154818" y="7406817"/>
              <a:ext cx="12895588" cy="21252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淘宝-想搞设计PPT(倒卖必究)-26">
              <a:extLst>
                <a:ext uri="{FF2B5EF4-FFF2-40B4-BE49-F238E27FC236}">
                  <a16:creationId xmlns:a16="http://schemas.microsoft.com/office/drawing/2014/main" id="{826A12F4-921D-EFAC-70D4-D58ECAFB9046}"/>
                </a:ext>
              </a:extLst>
            </p:cNvPr>
            <p:cNvSpPr/>
            <p:nvPr/>
          </p:nvSpPr>
          <p:spPr>
            <a:xfrm>
              <a:off x="340786" y="694772"/>
              <a:ext cx="12442920" cy="38252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4" name="淘宝-想搞设计PPT(倒卖必究)-24">
            <a:extLst>
              <a:ext uri="{FF2B5EF4-FFF2-40B4-BE49-F238E27FC236}">
                <a16:creationId xmlns:a16="http://schemas.microsoft.com/office/drawing/2014/main" id="{A188FAF8-1934-EB1E-1880-6EC390334708}"/>
              </a:ext>
            </a:extLst>
          </p:cNvPr>
          <p:cNvSpPr/>
          <p:nvPr/>
        </p:nvSpPr>
        <p:spPr>
          <a:xfrm>
            <a:off x="-250920" y="2101037"/>
            <a:ext cx="12656029" cy="2880000"/>
          </a:xfrm>
          <a:prstGeom prst="rect">
            <a:avLst/>
          </a:prstGeom>
          <a:solidFill>
            <a:srgbClr val="113884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淘宝-想搞设计PPT(倒卖必究)-16">
            <a:extLst>
              <a:ext uri="{FF2B5EF4-FFF2-40B4-BE49-F238E27FC236}">
                <a16:creationId xmlns:a16="http://schemas.microsoft.com/office/drawing/2014/main" id="{145B1A1B-0749-76B2-8706-A9757F19AE1E}"/>
              </a:ext>
            </a:extLst>
          </p:cNvPr>
          <p:cNvSpPr txBox="1"/>
          <p:nvPr/>
        </p:nvSpPr>
        <p:spPr>
          <a:xfrm>
            <a:off x="3047212" y="5680998"/>
            <a:ext cx="2236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汇报人：待填写</a:t>
            </a:r>
          </a:p>
        </p:txBody>
      </p:sp>
      <p:sp>
        <p:nvSpPr>
          <p:cNvPr id="17" name="淘宝-想搞设计PPT(倒卖必究)-17">
            <a:extLst>
              <a:ext uri="{FF2B5EF4-FFF2-40B4-BE49-F238E27FC236}">
                <a16:creationId xmlns:a16="http://schemas.microsoft.com/office/drawing/2014/main" id="{4A2250C8-20D7-FB0C-03C3-13C6F21B3EAD}"/>
              </a:ext>
            </a:extLst>
          </p:cNvPr>
          <p:cNvSpPr txBox="1"/>
          <p:nvPr/>
        </p:nvSpPr>
        <p:spPr>
          <a:xfrm>
            <a:off x="6651797" y="5680998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指导教师：待填写</a:t>
            </a:r>
          </a:p>
        </p:txBody>
      </p:sp>
      <p:sp>
        <p:nvSpPr>
          <p:cNvPr id="22" name="淘宝-想搞设计PPT(倒卖必究)-22">
            <a:extLst>
              <a:ext uri="{FF2B5EF4-FFF2-40B4-BE49-F238E27FC236}">
                <a16:creationId xmlns:a16="http://schemas.microsoft.com/office/drawing/2014/main" id="{82FB6EB9-E28F-833A-8668-291FF01BC1BD}"/>
              </a:ext>
            </a:extLst>
          </p:cNvPr>
          <p:cNvSpPr txBox="1"/>
          <p:nvPr/>
        </p:nvSpPr>
        <p:spPr>
          <a:xfrm>
            <a:off x="4927626" y="3974621"/>
            <a:ext cx="2085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学术汇报 · 文献综述</a:t>
            </a:r>
          </a:p>
        </p:txBody>
      </p:sp>
      <p:pic>
        <p:nvPicPr>
          <p:cNvPr id="28" name="Picture 27" descr="浙江大学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9756" y="374223"/>
            <a:ext cx="4152487" cy="127395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4400" y="260604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园区光伏发电预测</a:t>
            </a:r>
          </a:p>
          <a:p>
            <a:pPr algn="ctr">
              <a:spcAft>
                <a:spcPts val="10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需求现状与研究空白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661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淘宝-想搞设计PPT(倒卖必究)-23">
            <a:extLst>
              <a:ext uri="{FF2B5EF4-FFF2-40B4-BE49-F238E27FC236}">
                <a16:creationId xmlns:a16="http://schemas.microsoft.com/office/drawing/2014/main" id="{4D42FA99-9014-0EDB-FF5F-38B9B072B4AC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2" name="淘宝-想搞设计PPT(倒卖必究)-12">
            <a:extLst>
              <a:ext uri="{FF2B5EF4-FFF2-40B4-BE49-F238E27FC236}">
                <a16:creationId xmlns:a16="http://schemas.microsoft.com/office/drawing/2014/main" id="{56723278-6820-D4AB-EA0A-C75C9FC2497A}"/>
              </a:ext>
            </a:extLst>
          </p:cNvPr>
          <p:cNvCxnSpPr/>
          <p:nvPr/>
        </p:nvCxnSpPr>
        <p:spPr>
          <a:xfrm>
            <a:off x="425752" y="1508520"/>
            <a:ext cx="1836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淘宝-想搞设计PPT(倒卖必究)-3"/>
          <p:cNvSpPr/>
          <p:nvPr/>
        </p:nvSpPr>
        <p:spPr>
          <a:xfrm>
            <a:off x="2898787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淘宝-想搞设计PPT(倒卖必究)-4"/>
          <p:cNvCxnSpPr/>
          <p:nvPr/>
        </p:nvCxnSpPr>
        <p:spPr>
          <a:xfrm>
            <a:off x="6330474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淘宝-想搞设计PPT(倒卖必究)-5"/>
          <p:cNvCxnSpPr/>
          <p:nvPr/>
        </p:nvCxnSpPr>
        <p:spPr>
          <a:xfrm>
            <a:off x="806626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淘宝-想搞设计PPT(倒卖必究)-6"/>
          <p:cNvCxnSpPr/>
          <p:nvPr/>
        </p:nvCxnSpPr>
        <p:spPr>
          <a:xfrm>
            <a:off x="980205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-想搞设计PPT(倒卖必究)-7"/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需求背景</a:t>
            </a:r>
          </a:p>
        </p:txBody>
      </p:sp>
      <p:sp>
        <p:nvSpPr>
          <p:cNvPr id="8" name="淘宝-想搞设计PPT(倒卖必究)-8"/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研究现状</a:t>
            </a:r>
          </a:p>
        </p:txBody>
      </p:sp>
      <p:sp>
        <p:nvSpPr>
          <p:cNvPr id="9" name="淘宝-想搞设计PPT(倒卖必究)-9"/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时距与评价</a:t>
            </a:r>
          </a:p>
        </p:txBody>
      </p:sp>
      <p:sp>
        <p:nvSpPr>
          <p:cNvPr id="10" name="淘宝-想搞设计PPT(倒卖必究)-10"/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研究空白</a:t>
            </a:r>
          </a:p>
        </p:txBody>
      </p:sp>
      <p:sp>
        <p:nvSpPr>
          <p:cNvPr id="11" name="淘宝-想搞设计PPT(倒卖必究)-11"/>
          <p:cNvSpPr txBox="1"/>
          <p:nvPr/>
        </p:nvSpPr>
        <p:spPr>
          <a:xfrm>
            <a:off x="10090305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pic>
        <p:nvPicPr>
          <p:cNvPr id="27" name="Picture 26" descr="浙江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9784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汇报逻辑与核心结论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1828800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19202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需求驱动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1920240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从购电、储能与负荷决策倒推预测窗口，而非先指定模型时距。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2852928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29443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研究现状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2944368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方法与标准框架已形成；统一基准、真实预报输入与风险评价是关键。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3877056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968496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研究空白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396849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园区有用时距、信息贡献转换、关键事件与运行收益仍需本地验证。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901184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992624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实验路线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4992624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边界核验 → 多时距对照 → SHAP与消融 → 事件评价 → 调度回测。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06247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资料范围：用户提供的叙述性文献综合；不是穷尽性系统综述。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淘宝-想搞设计PPT(倒卖必究)-29">
            <a:extLst>
              <a:ext uri="{FF2B5EF4-FFF2-40B4-BE49-F238E27FC236}">
                <a16:creationId xmlns:a16="http://schemas.microsoft.com/office/drawing/2014/main" id="{75AC11FF-AAD0-CC5F-A454-ECB0DE363F73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2" name="淘宝-想搞设计PPT(倒卖必究)-12">
            <a:extLst>
              <a:ext uri="{FF2B5EF4-FFF2-40B4-BE49-F238E27FC236}">
                <a16:creationId xmlns:a16="http://schemas.microsoft.com/office/drawing/2014/main" id="{F9EC14D0-F761-BBE9-2A08-32DBA1BBFFF5}"/>
              </a:ext>
            </a:extLst>
          </p:cNvPr>
          <p:cNvCxnSpPr/>
          <p:nvPr/>
        </p:nvCxnSpPr>
        <p:spPr>
          <a:xfrm>
            <a:off x="425752" y="1508520"/>
            <a:ext cx="1836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淘宝-想搞设计PPT(倒卖必究)-3"/>
          <p:cNvSpPr/>
          <p:nvPr/>
        </p:nvSpPr>
        <p:spPr>
          <a:xfrm>
            <a:off x="2898787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淘宝-想搞设计PPT(倒卖必究)-4"/>
          <p:cNvCxnSpPr/>
          <p:nvPr/>
        </p:nvCxnSpPr>
        <p:spPr>
          <a:xfrm>
            <a:off x="6330474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淘宝-想搞设计PPT(倒卖必究)-5"/>
          <p:cNvCxnSpPr/>
          <p:nvPr/>
        </p:nvCxnSpPr>
        <p:spPr>
          <a:xfrm>
            <a:off x="806626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淘宝-想搞设计PPT(倒卖必究)-6"/>
          <p:cNvCxnSpPr/>
          <p:nvPr/>
        </p:nvCxnSpPr>
        <p:spPr>
          <a:xfrm>
            <a:off x="980205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-想搞设计PPT(倒卖必究)-7"/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需求背景</a:t>
            </a:r>
          </a:p>
        </p:txBody>
      </p:sp>
      <p:sp>
        <p:nvSpPr>
          <p:cNvPr id="8" name="淘宝-想搞设计PPT(倒卖必究)-8"/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研究现状</a:t>
            </a:r>
          </a:p>
        </p:txBody>
      </p:sp>
      <p:sp>
        <p:nvSpPr>
          <p:cNvPr id="9" name="淘宝-想搞设计PPT(倒卖必究)-9"/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时距与评价</a:t>
            </a:r>
          </a:p>
        </p:txBody>
      </p:sp>
      <p:sp>
        <p:nvSpPr>
          <p:cNvPr id="10" name="淘宝-想搞设计PPT(倒卖必究)-10"/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研究空白</a:t>
            </a:r>
          </a:p>
        </p:txBody>
      </p:sp>
      <p:sp>
        <p:nvSpPr>
          <p:cNvPr id="11" name="淘宝-想搞设计PPT(倒卖必究)-11"/>
          <p:cNvSpPr txBox="1"/>
          <p:nvPr/>
        </p:nvSpPr>
        <p:spPr>
          <a:xfrm>
            <a:off x="1009030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pic>
        <p:nvPicPr>
          <p:cNvPr id="37" name="Picture 36" descr="浙江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9784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园区预测服务于哪些决策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828800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19202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近期控制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1920240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储能充放电、备用预留与突降应对，需关注响应时间及可用提前量。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2852928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29443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日内安排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2944368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可移负荷、生产班次、充电设施和需求响应，需覆盖实际执行窗口。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3877056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968496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日前计划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20" y="396849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购电与市场申报需在截止前发布，并覆盖次日计划窗口。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901184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4992624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业务边界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6120" y="4992624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并网调度标准提供基准，具体园区参数与经济价值仍需本地验证。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06247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依据综述 [1–5,9]；自发自用、交易与虚拟电厂场景应区分。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淘宝-想搞设计PPT(倒卖必究)-20">
            <a:extLst>
              <a:ext uri="{FF2B5EF4-FFF2-40B4-BE49-F238E27FC236}">
                <a16:creationId xmlns:a16="http://schemas.microsoft.com/office/drawing/2014/main" id="{D7159C6C-A517-005B-F2B7-DAAD290BDE78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2" name="淘宝-想搞设计PPT(倒卖必究)-12">
            <a:extLst>
              <a:ext uri="{FF2B5EF4-FFF2-40B4-BE49-F238E27FC236}">
                <a16:creationId xmlns:a16="http://schemas.microsoft.com/office/drawing/2014/main" id="{F854B126-C29C-7CA4-C0BC-2CA0205EECBD}"/>
              </a:ext>
            </a:extLst>
          </p:cNvPr>
          <p:cNvCxnSpPr/>
          <p:nvPr/>
        </p:nvCxnSpPr>
        <p:spPr>
          <a:xfrm>
            <a:off x="425752" y="1508520"/>
            <a:ext cx="1836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淘宝-想搞设计PPT(倒卖必究)-3"/>
          <p:cNvSpPr/>
          <p:nvPr/>
        </p:nvSpPr>
        <p:spPr>
          <a:xfrm>
            <a:off x="2898787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淘宝-想搞设计PPT(倒卖必究)-4"/>
          <p:cNvCxnSpPr/>
          <p:nvPr/>
        </p:nvCxnSpPr>
        <p:spPr>
          <a:xfrm>
            <a:off x="6330474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淘宝-想搞设计PPT(倒卖必究)-5"/>
          <p:cNvCxnSpPr/>
          <p:nvPr/>
        </p:nvCxnSpPr>
        <p:spPr>
          <a:xfrm>
            <a:off x="806626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淘宝-想搞设计PPT(倒卖必究)-6"/>
          <p:cNvCxnSpPr/>
          <p:nvPr/>
        </p:nvCxnSpPr>
        <p:spPr>
          <a:xfrm>
            <a:off x="980205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-想搞设计PPT(倒卖必究)-7"/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需求背景</a:t>
            </a:r>
          </a:p>
        </p:txBody>
      </p:sp>
      <p:sp>
        <p:nvSpPr>
          <p:cNvPr id="8" name="淘宝-想搞设计PPT(倒卖必究)-8"/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研究现状</a:t>
            </a:r>
          </a:p>
        </p:txBody>
      </p:sp>
      <p:sp>
        <p:nvSpPr>
          <p:cNvPr id="9" name="淘宝-想搞设计PPT(倒卖必究)-9"/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时距与评价</a:t>
            </a:r>
          </a:p>
        </p:txBody>
      </p:sp>
      <p:sp>
        <p:nvSpPr>
          <p:cNvPr id="10" name="淘宝-想搞设计PPT(倒卖必究)-10"/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研究空白</a:t>
            </a:r>
          </a:p>
        </p:txBody>
      </p:sp>
      <p:sp>
        <p:nvSpPr>
          <p:cNvPr id="11" name="淘宝-想搞设计PPT(倒卖必究)-11"/>
          <p:cNvSpPr txBox="1"/>
          <p:nvPr/>
        </p:nvSpPr>
        <p:spPr>
          <a:xfrm>
            <a:off x="1009030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pic>
        <p:nvPicPr>
          <p:cNvPr id="44" name="Picture 43" descr="浙江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9784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预测需求：从精度走向可用性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1828800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19202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对象与数据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1920240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明确交流侧可用功率、实发功率或净负荷；记录容量、限发与故障。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2852928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29443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时空尺度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2944368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时距、输出间隔、更新频率与历史窗口分开；确定分区或园区聚合。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3877056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3968496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误差与风险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46120" y="396849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兼顾偏差、电量、概率校准、爬坡事件及关键天气下的表现。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" y="4901184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4992624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运行与维护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46120" y="4992624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关注费用、弃光、SOC风险、系统延迟、缺测回退与跨季节泛化。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06247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依据综述 [1–4,7,9,11–21]。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791F4-14AF-3B37-83C6-111DB4D44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淘宝-想搞设计PPT(倒卖必究)-20">
            <a:extLst>
              <a:ext uri="{FF2B5EF4-FFF2-40B4-BE49-F238E27FC236}">
                <a16:creationId xmlns:a16="http://schemas.microsoft.com/office/drawing/2014/main" id="{AB6418FD-2DCB-024F-8458-0A417D8A8751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2" name="淘宝-想搞设计PPT(倒卖必究)-12">
            <a:extLst>
              <a:ext uri="{FF2B5EF4-FFF2-40B4-BE49-F238E27FC236}">
                <a16:creationId xmlns:a16="http://schemas.microsoft.com/office/drawing/2014/main" id="{BB9517F4-9E49-ACD3-0468-BF39CE236743}"/>
              </a:ext>
            </a:extLst>
          </p:cNvPr>
          <p:cNvCxnSpPr/>
          <p:nvPr/>
        </p:nvCxnSpPr>
        <p:spPr>
          <a:xfrm>
            <a:off x="425752" y="1508520"/>
            <a:ext cx="1836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淘宝-想搞设计PPT(倒卖必究)-3">
            <a:extLst>
              <a:ext uri="{FF2B5EF4-FFF2-40B4-BE49-F238E27FC236}">
                <a16:creationId xmlns:a16="http://schemas.microsoft.com/office/drawing/2014/main" id="{74A283F3-3FA3-3A15-B2F2-81DA3049CAD1}"/>
              </a:ext>
            </a:extLst>
          </p:cNvPr>
          <p:cNvSpPr/>
          <p:nvPr/>
        </p:nvSpPr>
        <p:spPr>
          <a:xfrm>
            <a:off x="2898787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淘宝-想搞设计PPT(倒卖必究)-4">
            <a:extLst>
              <a:ext uri="{FF2B5EF4-FFF2-40B4-BE49-F238E27FC236}">
                <a16:creationId xmlns:a16="http://schemas.microsoft.com/office/drawing/2014/main" id="{F14B9E22-E6CA-A8D2-7E5B-37A294652FFB}"/>
              </a:ext>
            </a:extLst>
          </p:cNvPr>
          <p:cNvCxnSpPr/>
          <p:nvPr/>
        </p:nvCxnSpPr>
        <p:spPr>
          <a:xfrm>
            <a:off x="6330474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淘宝-想搞设计PPT(倒卖必究)-5">
            <a:extLst>
              <a:ext uri="{FF2B5EF4-FFF2-40B4-BE49-F238E27FC236}">
                <a16:creationId xmlns:a16="http://schemas.microsoft.com/office/drawing/2014/main" id="{A8B463BE-BB2B-28EA-91C9-87C1F3615E07}"/>
              </a:ext>
            </a:extLst>
          </p:cNvPr>
          <p:cNvCxnSpPr/>
          <p:nvPr/>
        </p:nvCxnSpPr>
        <p:spPr>
          <a:xfrm>
            <a:off x="806626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淘宝-想搞设计PPT(倒卖必究)-6">
            <a:extLst>
              <a:ext uri="{FF2B5EF4-FFF2-40B4-BE49-F238E27FC236}">
                <a16:creationId xmlns:a16="http://schemas.microsoft.com/office/drawing/2014/main" id="{150D65CD-1298-FDA1-02E0-613FEABB529C}"/>
              </a:ext>
            </a:extLst>
          </p:cNvPr>
          <p:cNvCxnSpPr/>
          <p:nvPr/>
        </p:nvCxnSpPr>
        <p:spPr>
          <a:xfrm>
            <a:off x="980205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-想搞设计PPT(倒卖必究)-7">
            <a:extLst>
              <a:ext uri="{FF2B5EF4-FFF2-40B4-BE49-F238E27FC236}">
                <a16:creationId xmlns:a16="http://schemas.microsoft.com/office/drawing/2014/main" id="{4ADAB0D0-82FF-7B86-B4F1-FA730351D200}"/>
              </a:ext>
            </a:extLst>
          </p:cNvPr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需求背景</a:t>
            </a:r>
          </a:p>
        </p:txBody>
      </p:sp>
      <p:sp>
        <p:nvSpPr>
          <p:cNvPr id="8" name="淘宝-想搞设计PPT(倒卖必究)-8">
            <a:extLst>
              <a:ext uri="{FF2B5EF4-FFF2-40B4-BE49-F238E27FC236}">
                <a16:creationId xmlns:a16="http://schemas.microsoft.com/office/drawing/2014/main" id="{1CF5FC06-7503-FEDA-FAB8-D11DA4DE90CF}"/>
              </a:ext>
            </a:extLst>
          </p:cNvPr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研究现状</a:t>
            </a:r>
          </a:p>
        </p:txBody>
      </p:sp>
      <p:sp>
        <p:nvSpPr>
          <p:cNvPr id="9" name="淘宝-想搞设计PPT(倒卖必究)-9">
            <a:extLst>
              <a:ext uri="{FF2B5EF4-FFF2-40B4-BE49-F238E27FC236}">
                <a16:creationId xmlns:a16="http://schemas.microsoft.com/office/drawing/2014/main" id="{A51350D2-0185-6B37-4D47-C7C3B07B7EAD}"/>
              </a:ext>
            </a:extLst>
          </p:cNvPr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时距与评价</a:t>
            </a:r>
          </a:p>
        </p:txBody>
      </p:sp>
      <p:sp>
        <p:nvSpPr>
          <p:cNvPr id="10" name="淘宝-想搞设计PPT(倒卖必究)-10">
            <a:extLst>
              <a:ext uri="{FF2B5EF4-FFF2-40B4-BE49-F238E27FC236}">
                <a16:creationId xmlns:a16="http://schemas.microsoft.com/office/drawing/2014/main" id="{32D09F9D-C237-8E5F-24D4-1363A08BD0B2}"/>
              </a:ext>
            </a:extLst>
          </p:cNvPr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研究空白</a:t>
            </a:r>
          </a:p>
        </p:txBody>
      </p:sp>
      <p:sp>
        <p:nvSpPr>
          <p:cNvPr id="11" name="淘宝-想搞设计PPT(倒卖必究)-11">
            <a:extLst>
              <a:ext uri="{FF2B5EF4-FFF2-40B4-BE49-F238E27FC236}">
                <a16:creationId xmlns:a16="http://schemas.microsoft.com/office/drawing/2014/main" id="{21BC1B53-3462-7E9D-82BF-09F5E283437B}"/>
              </a:ext>
            </a:extLst>
          </p:cNvPr>
          <p:cNvSpPr txBox="1"/>
          <p:nvPr/>
        </p:nvSpPr>
        <p:spPr>
          <a:xfrm>
            <a:off x="1009030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pic>
        <p:nvPicPr>
          <p:cNvPr id="33" name="Picture 32" descr="浙江大学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9784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国内外研究现状：主要进展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1828800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19202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多源、多时距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1920240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历史功率与未来天气融合；空间相关、多时间尺度与深度模型已有研究。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2852928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29443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评价体系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2944368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标准与研究覆盖确定性、概率和基准技能；跨论文口径仍难直接比较。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3877056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3968496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解释与事件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396849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SHAP、遮挡因素与专门爬坡指标已出现，结论依赖站点与解释目标。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4901184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992624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预测接入调度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4992624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日前—日内两阶段调度及随机控制已有案例，长期园区实证仍需补充。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06247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依据综述 [6–24]；案例、仿真与长期实证属于不同证据层级。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1491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淘宝-想搞设计PPT(倒卖必究)-17">
            <a:extLst>
              <a:ext uri="{FF2B5EF4-FFF2-40B4-BE49-F238E27FC236}">
                <a16:creationId xmlns:a16="http://schemas.microsoft.com/office/drawing/2014/main" id="{31902E87-F64C-99E2-B6B1-C61ED03687B5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3" name="淘宝-想搞设计PPT(倒卖必究)-3"/>
          <p:cNvCxnSpPr/>
          <p:nvPr/>
        </p:nvCxnSpPr>
        <p:spPr>
          <a:xfrm>
            <a:off x="2858891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淘宝-想搞设计PPT(倒卖必究)-4"/>
          <p:cNvCxnSpPr/>
          <p:nvPr/>
        </p:nvCxnSpPr>
        <p:spPr>
          <a:xfrm>
            <a:off x="806626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淘宝-想搞设计PPT(倒卖必究)-5"/>
          <p:cNvCxnSpPr/>
          <p:nvPr/>
        </p:nvCxnSpPr>
        <p:spPr>
          <a:xfrm>
            <a:off x="980205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-想搞设计PPT(倒卖必究)-6"/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需求背景</a:t>
            </a:r>
          </a:p>
        </p:txBody>
      </p:sp>
      <p:sp>
        <p:nvSpPr>
          <p:cNvPr id="7" name="淘宝-想搞设计PPT(倒卖必究)-7"/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时距与评价</a:t>
            </a:r>
          </a:p>
        </p:txBody>
      </p:sp>
      <p:sp>
        <p:nvSpPr>
          <p:cNvPr id="8" name="淘宝-想搞设计PPT(倒卖必究)-8"/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研究空白</a:t>
            </a:r>
          </a:p>
        </p:txBody>
      </p:sp>
      <p:sp>
        <p:nvSpPr>
          <p:cNvPr id="9" name="淘宝-想搞设计PPT(倒卖必究)-9"/>
          <p:cNvSpPr txBox="1"/>
          <p:nvPr/>
        </p:nvSpPr>
        <p:spPr>
          <a:xfrm>
            <a:off x="1009030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sp>
        <p:nvSpPr>
          <p:cNvPr id="10" name="淘宝-想搞设计PPT(倒卖必究)-10"/>
          <p:cNvSpPr/>
          <p:nvPr/>
        </p:nvSpPr>
        <p:spPr>
          <a:xfrm>
            <a:off x="4634578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淘宝-想搞设计PPT(倒卖必究)-11"/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研究现状</a:t>
            </a:r>
          </a:p>
        </p:txBody>
      </p:sp>
      <p:pic>
        <p:nvPicPr>
          <p:cNvPr id="41" name="Picture 40" descr="浙江大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9784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四个时间参数必须分别定义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1828800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19202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预测时距 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1920240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从发布时刻向未来覆盖多久；决定未来输出终点。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852928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29443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输出间隔 Δt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2944368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相邻预测点的时间间隔；本研究候选固定为15分钟。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3877056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3968496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更新频率 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396849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多久重新发布一版预测；应同时记录数据延迟与预报版本。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4901184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4992624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历史窗口 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46120" y="4992624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使用过去多久的数据；第一轮固定24小时，避免同时改变多个变量。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06247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例：H=4小时、Δt=15分钟、τ=15分钟、L=24小时，四者各自独立。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淘宝-想搞设计PPT(倒卖必究)-13">
            <a:extLst>
              <a:ext uri="{FF2B5EF4-FFF2-40B4-BE49-F238E27FC236}">
                <a16:creationId xmlns:a16="http://schemas.microsoft.com/office/drawing/2014/main" id="{E33E7BAF-FC23-01FE-5778-18DE62EAFEFF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3" name="淘宝-想搞设计PPT(倒卖必究)-3"/>
          <p:cNvCxnSpPr/>
          <p:nvPr/>
        </p:nvCxnSpPr>
        <p:spPr>
          <a:xfrm>
            <a:off x="4594682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淘宝-想搞设计PPT(倒卖必究)-4"/>
          <p:cNvCxnSpPr/>
          <p:nvPr/>
        </p:nvCxnSpPr>
        <p:spPr>
          <a:xfrm>
            <a:off x="980205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淘宝-想搞设计PPT(倒卖必究)-5"/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需求背景</a:t>
            </a:r>
          </a:p>
        </p:txBody>
      </p:sp>
      <p:sp>
        <p:nvSpPr>
          <p:cNvPr id="6" name="淘宝-想搞设计PPT(倒卖必究)-6"/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研究空白</a:t>
            </a:r>
          </a:p>
        </p:txBody>
      </p:sp>
      <p:sp>
        <p:nvSpPr>
          <p:cNvPr id="7" name="淘宝-想搞设计PPT(倒卖必究)-7"/>
          <p:cNvSpPr txBox="1"/>
          <p:nvPr/>
        </p:nvSpPr>
        <p:spPr>
          <a:xfrm>
            <a:off x="1009030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6370369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淘宝-想搞设计PPT(倒卖必究)-9"/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研究现状</a:t>
            </a:r>
          </a:p>
        </p:txBody>
      </p:sp>
      <p:cxnSp>
        <p:nvCxnSpPr>
          <p:cNvPr id="10" name="淘宝-想搞设计PPT(倒卖必究)-10"/>
          <p:cNvCxnSpPr/>
          <p:nvPr/>
        </p:nvCxnSpPr>
        <p:spPr>
          <a:xfrm>
            <a:off x="2858891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-想搞设计PPT(倒卖必究)-11"/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时距与评价</a:t>
            </a:r>
          </a:p>
        </p:txBody>
      </p:sp>
      <p:pic>
        <p:nvPicPr>
          <p:cNvPr id="45" name="Picture 44" descr="浙江大学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9784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15分钟数据：时距与点数对应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1828800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19202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1 / 2 / 4 小时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1920240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分别对应4 / 8 / 16个未来点，用于近端变化与日内修正比较。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2852928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29443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8 / 12 小时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46120" y="2944368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分别对应32 / 48个未来点，检验较长日内或班次窗口。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" y="3877056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3968496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18 / 24 小时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6120" y="396849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分别对应72 / 96个未来点；72点是18小时，不能称为8小时。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4901184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4992624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历史与日界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46120" y="4992624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过去96点为24小时；滚动24小时不一定等于次日自然日。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06247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点数 N=H/Δt。文档中的 seq_len=96、pred_len=72 是原综述讨论设置，需与实际代码核对。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淘宝-想搞设计PPT(倒卖必究)-28">
            <a:extLst>
              <a:ext uri="{FF2B5EF4-FFF2-40B4-BE49-F238E27FC236}">
                <a16:creationId xmlns:a16="http://schemas.microsoft.com/office/drawing/2014/main" id="{8C416769-53D5-1D7E-80E2-29B827D984C4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8" name="淘宝-想搞设计PPT(倒卖必究)-18">
            <a:extLst>
              <a:ext uri="{FF2B5EF4-FFF2-40B4-BE49-F238E27FC236}">
                <a16:creationId xmlns:a16="http://schemas.microsoft.com/office/drawing/2014/main" id="{07F0F31A-2CD7-106F-A201-4727E224BE37}"/>
              </a:ext>
            </a:extLst>
          </p:cNvPr>
          <p:cNvCxnSpPr/>
          <p:nvPr/>
        </p:nvCxnSpPr>
        <p:spPr>
          <a:xfrm>
            <a:off x="425752" y="1508520"/>
            <a:ext cx="1836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淘宝-想搞设计PPT(倒卖必究)-3"/>
          <p:cNvCxnSpPr/>
          <p:nvPr/>
        </p:nvCxnSpPr>
        <p:spPr>
          <a:xfrm>
            <a:off x="4594682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淘宝-想搞设计PPT(倒卖必究)-4"/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需求背景</a:t>
            </a:r>
          </a:p>
        </p:txBody>
      </p:sp>
      <p:sp>
        <p:nvSpPr>
          <p:cNvPr id="5" name="淘宝-想搞设计PPT(倒卖必究)-5"/>
          <p:cNvSpPr txBox="1"/>
          <p:nvPr/>
        </p:nvSpPr>
        <p:spPr>
          <a:xfrm>
            <a:off x="1009030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sp>
        <p:nvSpPr>
          <p:cNvPr id="6" name="淘宝-想搞设计PPT(倒卖必究)-6"/>
          <p:cNvSpPr/>
          <p:nvPr/>
        </p:nvSpPr>
        <p:spPr>
          <a:xfrm>
            <a:off x="8106160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淘宝-想搞设计PPT(倒卖必究)-7"/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研究现状</a:t>
            </a:r>
          </a:p>
        </p:txBody>
      </p:sp>
      <p:cxnSp>
        <p:nvCxnSpPr>
          <p:cNvPr id="8" name="淘宝-想搞设计PPT(倒卖必究)-8"/>
          <p:cNvCxnSpPr/>
          <p:nvPr/>
        </p:nvCxnSpPr>
        <p:spPr>
          <a:xfrm>
            <a:off x="2858891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淘宝-想搞设计PPT(倒卖必究)-9"/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时距与评价</a:t>
            </a:r>
          </a:p>
        </p:txBody>
      </p:sp>
      <p:cxnSp>
        <p:nvCxnSpPr>
          <p:cNvPr id="10" name="淘宝-想搞设计PPT(倒卖必究)-10"/>
          <p:cNvCxnSpPr/>
          <p:nvPr/>
        </p:nvCxnSpPr>
        <p:spPr>
          <a:xfrm>
            <a:off x="6330474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-想搞设计PPT(倒卖必究)-11"/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研究空白</a:t>
            </a:r>
          </a:p>
        </p:txBody>
      </p:sp>
      <p:pic>
        <p:nvPicPr>
          <p:cNvPr id="38" name="Picture 37" descr="浙江大学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9784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变量重要性与输入精度的边界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1828800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19202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准确性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1920240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输出与真实功率的差距：用独立测试期评价模型误差。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2852928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29443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重要性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2944368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特定模型、样本与目标的归因；排序不构成跨园区通用规律。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3877056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3968496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输入精度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396849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传感器或天气预报的误差；高SHAP贡献不能给出精度门槛。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4901184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4992624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SHAP输出目标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4992624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若解释未来16点平均功率，只对应4小时平均输出；应分步解释并做重训练消融。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606247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依据综述 [12–14,18]；相关输入可能共享贡献，SHAP不能直接证明物理因果。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10D74-A088-F319-E869-A72AFCCA4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淘宝-想搞设计PPT(倒卖必究)-23">
            <a:extLst>
              <a:ext uri="{FF2B5EF4-FFF2-40B4-BE49-F238E27FC236}">
                <a16:creationId xmlns:a16="http://schemas.microsoft.com/office/drawing/2014/main" id="{3C6AE696-AE14-977B-D4FA-36B6C6A7E25A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3" name="淘宝-想搞设计PPT(倒卖必究)-13">
            <a:extLst>
              <a:ext uri="{FF2B5EF4-FFF2-40B4-BE49-F238E27FC236}">
                <a16:creationId xmlns:a16="http://schemas.microsoft.com/office/drawing/2014/main" id="{113EB576-FF7C-3B78-F3BB-E138EBFE5FB0}"/>
              </a:ext>
            </a:extLst>
          </p:cNvPr>
          <p:cNvCxnSpPr/>
          <p:nvPr/>
        </p:nvCxnSpPr>
        <p:spPr>
          <a:xfrm>
            <a:off x="425752" y="1508520"/>
            <a:ext cx="1836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淘宝-想搞设计PPT(倒卖必究)-3">
            <a:extLst>
              <a:ext uri="{FF2B5EF4-FFF2-40B4-BE49-F238E27FC236}">
                <a16:creationId xmlns:a16="http://schemas.microsoft.com/office/drawing/2014/main" id="{CD02FE5C-5E5B-F8F8-2CFA-7FA0D62C45DE}"/>
              </a:ext>
            </a:extLst>
          </p:cNvPr>
          <p:cNvCxnSpPr/>
          <p:nvPr/>
        </p:nvCxnSpPr>
        <p:spPr>
          <a:xfrm>
            <a:off x="4594682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淘宝-想搞设计PPT(倒卖必究)-4">
            <a:extLst>
              <a:ext uri="{FF2B5EF4-FFF2-40B4-BE49-F238E27FC236}">
                <a16:creationId xmlns:a16="http://schemas.microsoft.com/office/drawing/2014/main" id="{83C9A258-8A3F-81F0-B7D2-CD6D96B77D27}"/>
              </a:ext>
            </a:extLst>
          </p:cNvPr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需求背景</a:t>
            </a:r>
          </a:p>
        </p:txBody>
      </p:sp>
      <p:sp>
        <p:nvSpPr>
          <p:cNvPr id="5" name="淘宝-想搞设计PPT(倒卖必究)-5">
            <a:extLst>
              <a:ext uri="{FF2B5EF4-FFF2-40B4-BE49-F238E27FC236}">
                <a16:creationId xmlns:a16="http://schemas.microsoft.com/office/drawing/2014/main" id="{B4B44C25-B1D3-600A-C507-4DA07AC78944}"/>
              </a:ext>
            </a:extLst>
          </p:cNvPr>
          <p:cNvSpPr txBox="1"/>
          <p:nvPr/>
        </p:nvSpPr>
        <p:spPr>
          <a:xfrm>
            <a:off x="1009030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sp>
        <p:nvSpPr>
          <p:cNvPr id="6" name="淘宝-想搞设计PPT(倒卖必究)-6">
            <a:extLst>
              <a:ext uri="{FF2B5EF4-FFF2-40B4-BE49-F238E27FC236}">
                <a16:creationId xmlns:a16="http://schemas.microsoft.com/office/drawing/2014/main" id="{DCDD88D6-C5A5-CABC-043B-AB26D01DD314}"/>
              </a:ext>
            </a:extLst>
          </p:cNvPr>
          <p:cNvSpPr/>
          <p:nvPr/>
        </p:nvSpPr>
        <p:spPr>
          <a:xfrm>
            <a:off x="8106160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淘宝-想搞设计PPT(倒卖必究)-7">
            <a:extLst>
              <a:ext uri="{FF2B5EF4-FFF2-40B4-BE49-F238E27FC236}">
                <a16:creationId xmlns:a16="http://schemas.microsoft.com/office/drawing/2014/main" id="{F75E90C8-80FF-5B36-8281-DCBD0721A5CE}"/>
              </a:ext>
            </a:extLst>
          </p:cNvPr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研究现状</a:t>
            </a:r>
          </a:p>
        </p:txBody>
      </p:sp>
      <p:cxnSp>
        <p:nvCxnSpPr>
          <p:cNvPr id="8" name="淘宝-想搞设计PPT(倒卖必究)-8">
            <a:extLst>
              <a:ext uri="{FF2B5EF4-FFF2-40B4-BE49-F238E27FC236}">
                <a16:creationId xmlns:a16="http://schemas.microsoft.com/office/drawing/2014/main" id="{13529063-9A67-390F-0A7B-B109038E4477}"/>
              </a:ext>
            </a:extLst>
          </p:cNvPr>
          <p:cNvCxnSpPr/>
          <p:nvPr/>
        </p:nvCxnSpPr>
        <p:spPr>
          <a:xfrm>
            <a:off x="2858891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淘宝-想搞设计PPT(倒卖必究)-9">
            <a:extLst>
              <a:ext uri="{FF2B5EF4-FFF2-40B4-BE49-F238E27FC236}">
                <a16:creationId xmlns:a16="http://schemas.microsoft.com/office/drawing/2014/main" id="{C4D1D597-639F-5502-4C67-7433F514A3E1}"/>
              </a:ext>
            </a:extLst>
          </p:cNvPr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时距与评价</a:t>
            </a:r>
          </a:p>
        </p:txBody>
      </p:sp>
      <p:cxnSp>
        <p:nvCxnSpPr>
          <p:cNvPr id="10" name="淘宝-想搞设计PPT(倒卖必究)-10">
            <a:extLst>
              <a:ext uri="{FF2B5EF4-FFF2-40B4-BE49-F238E27FC236}">
                <a16:creationId xmlns:a16="http://schemas.microsoft.com/office/drawing/2014/main" id="{ECC8E35E-6D87-5017-BB26-D39C5E23390E}"/>
              </a:ext>
            </a:extLst>
          </p:cNvPr>
          <p:cNvCxnSpPr/>
          <p:nvPr/>
        </p:nvCxnSpPr>
        <p:spPr>
          <a:xfrm>
            <a:off x="6330474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-想搞设计PPT(倒卖必究)-11">
            <a:extLst>
              <a:ext uri="{FF2B5EF4-FFF2-40B4-BE49-F238E27FC236}">
                <a16:creationId xmlns:a16="http://schemas.microsoft.com/office/drawing/2014/main" id="{FEB01B57-5D65-1701-84BF-1F33829B0FFC}"/>
              </a:ext>
            </a:extLst>
          </p:cNvPr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研究空白</a:t>
            </a:r>
          </a:p>
        </p:txBody>
      </p:sp>
      <p:pic>
        <p:nvPicPr>
          <p:cNvPr id="51" name="Picture 50" descr="浙江大学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9784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评价设计：四层证据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" y="1828800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19202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数值与基准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6120" y="1920240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MAE、RMSE、容量归一化误差、偏差及持续性基准技能；逐提前量报告。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2852928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29443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电量与事件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46120" y="2944368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窗口累计电量偏差；突降幅度、时刻、召回率、误报率和有效提前量。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3877056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3968496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概率与轨迹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46120" y="396849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覆盖率与宽度联合报告，辅以Pinball loss/CRPS；区分逐点与轨迹风险。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4901184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4992624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运行效果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6120" y="4992624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在相同负荷、电价、储能和约束下比较费用、弃光、峰值购电与SOC越限。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606247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依据综述 [4,15–21]；接近零功率时不宜将MAPE作为唯一指标。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40947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淘宝-想搞设计PPT(倒卖必究)-20">
            <a:extLst>
              <a:ext uri="{FF2B5EF4-FFF2-40B4-BE49-F238E27FC236}">
                <a16:creationId xmlns:a16="http://schemas.microsoft.com/office/drawing/2014/main" id="{11BAD4BC-9377-5A4F-CDCD-3DD8E22DB12A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2" name="淘宝-想搞设计PPT(倒卖必究)-12">
            <a:extLst>
              <a:ext uri="{FF2B5EF4-FFF2-40B4-BE49-F238E27FC236}">
                <a16:creationId xmlns:a16="http://schemas.microsoft.com/office/drawing/2014/main" id="{310203EF-094D-A180-1E05-201C852A0A95}"/>
              </a:ext>
            </a:extLst>
          </p:cNvPr>
          <p:cNvCxnSpPr/>
          <p:nvPr/>
        </p:nvCxnSpPr>
        <p:spPr>
          <a:xfrm>
            <a:off x="425752" y="1508520"/>
            <a:ext cx="1836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淘宝-想搞设计PPT(倒卖必究)-3"/>
          <p:cNvCxnSpPr/>
          <p:nvPr/>
        </p:nvCxnSpPr>
        <p:spPr>
          <a:xfrm>
            <a:off x="4594682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淘宝-想搞设计PPT(倒卖必究)-4"/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需求背景</a:t>
            </a:r>
          </a:p>
        </p:txBody>
      </p:sp>
      <p:sp>
        <p:nvSpPr>
          <p:cNvPr id="5" name="淘宝-想搞设计PPT(倒卖必究)-5"/>
          <p:cNvSpPr txBox="1"/>
          <p:nvPr/>
        </p:nvSpPr>
        <p:spPr>
          <a:xfrm>
            <a:off x="1009030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sp>
        <p:nvSpPr>
          <p:cNvPr id="6" name="淘宝-想搞设计PPT(倒卖必究)-6"/>
          <p:cNvSpPr/>
          <p:nvPr/>
        </p:nvSpPr>
        <p:spPr>
          <a:xfrm>
            <a:off x="8106160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淘宝-想搞设计PPT(倒卖必究)-7"/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研究现状</a:t>
            </a:r>
          </a:p>
        </p:txBody>
      </p:sp>
      <p:cxnSp>
        <p:nvCxnSpPr>
          <p:cNvPr id="8" name="淘宝-想搞设计PPT(倒卖必究)-8"/>
          <p:cNvCxnSpPr/>
          <p:nvPr/>
        </p:nvCxnSpPr>
        <p:spPr>
          <a:xfrm>
            <a:off x="2858891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淘宝-想搞设计PPT(倒卖必究)-9"/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时距与评价</a:t>
            </a:r>
          </a:p>
        </p:txBody>
      </p:sp>
      <p:cxnSp>
        <p:nvCxnSpPr>
          <p:cNvPr id="10" name="淘宝-想搞设计PPT(倒卖必究)-10"/>
          <p:cNvCxnSpPr/>
          <p:nvPr/>
        </p:nvCxnSpPr>
        <p:spPr>
          <a:xfrm>
            <a:off x="6330474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-想搞设计PPT(倒卖必究)-11"/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研究空白</a:t>
            </a:r>
          </a:p>
        </p:txBody>
      </p:sp>
      <p:pic>
        <p:nvPicPr>
          <p:cNvPr id="42" name="Picture 41" descr="浙江大学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9784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优先研究空白与可检验问题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1828800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19202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有用时距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1920240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新增远期信息何时不再改善决策？以1–24小时对照与滚动回测检验。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2852928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29443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信息贡献转换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2944368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历史功率与未来天气的增益何时变化？按时距、天气、季节解释并消融。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3877056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3968496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关键事件风险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46120" y="396849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突降能提前多久识别？用固定事件规则评估漏报、误报与备用需求。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" y="4901184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4992624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可靠性与迁移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6120" y="4992624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跨设备、季节和预报服务变化后是否失效？开展外推、缺测与延迟测试。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06247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研究空白是基于综述提出的本地验证问题，不意味着相关领域从未研究。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淘宝-想搞设计PPT(倒卖必究)-20">
            <a:extLst>
              <a:ext uri="{FF2B5EF4-FFF2-40B4-BE49-F238E27FC236}">
                <a16:creationId xmlns:a16="http://schemas.microsoft.com/office/drawing/2014/main" id="{D30D2557-E7EB-952D-7D09-0D261BB55F64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2" name="淘宝-想搞设计PPT(倒卖必究)-12">
            <a:extLst>
              <a:ext uri="{FF2B5EF4-FFF2-40B4-BE49-F238E27FC236}">
                <a16:creationId xmlns:a16="http://schemas.microsoft.com/office/drawing/2014/main" id="{D9228B33-8832-AEA6-71F3-DDDF5050E99F}"/>
              </a:ext>
            </a:extLst>
          </p:cNvPr>
          <p:cNvCxnSpPr/>
          <p:nvPr/>
        </p:nvCxnSpPr>
        <p:spPr>
          <a:xfrm>
            <a:off x="425752" y="1508520"/>
            <a:ext cx="1836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淘宝-想搞设计PPT(倒卖必究)-3"/>
          <p:cNvCxnSpPr/>
          <p:nvPr/>
        </p:nvCxnSpPr>
        <p:spPr>
          <a:xfrm>
            <a:off x="4594682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淘宝-想搞设计PPT(倒卖必究)-4"/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需求背景</a:t>
            </a:r>
          </a:p>
        </p:txBody>
      </p:sp>
      <p:sp>
        <p:nvSpPr>
          <p:cNvPr id="5" name="淘宝-想搞设计PPT(倒卖必究)-5"/>
          <p:cNvSpPr txBox="1"/>
          <p:nvPr/>
        </p:nvSpPr>
        <p:spPr>
          <a:xfrm>
            <a:off x="1009030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sp>
        <p:nvSpPr>
          <p:cNvPr id="6" name="淘宝-想搞设计PPT(倒卖必究)-6"/>
          <p:cNvSpPr/>
          <p:nvPr/>
        </p:nvSpPr>
        <p:spPr>
          <a:xfrm>
            <a:off x="8106160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淘宝-想搞设计PPT(倒卖必究)-7"/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研究现状</a:t>
            </a:r>
          </a:p>
        </p:txBody>
      </p:sp>
      <p:cxnSp>
        <p:nvCxnSpPr>
          <p:cNvPr id="8" name="淘宝-想搞设计PPT(倒卖必究)-8"/>
          <p:cNvCxnSpPr/>
          <p:nvPr/>
        </p:nvCxnSpPr>
        <p:spPr>
          <a:xfrm>
            <a:off x="2858891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淘宝-想搞设计PPT(倒卖必究)-9"/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时距与评价</a:t>
            </a:r>
          </a:p>
        </p:txBody>
      </p:sp>
      <p:cxnSp>
        <p:nvCxnSpPr>
          <p:cNvPr id="10" name="淘宝-想搞设计PPT(倒卖必究)-10"/>
          <p:cNvCxnSpPr/>
          <p:nvPr/>
        </p:nvCxnSpPr>
        <p:spPr>
          <a:xfrm>
            <a:off x="6330474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-想搞设计PPT(倒卖必究)-11"/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研究空白</a:t>
            </a:r>
          </a:p>
        </p:txBody>
      </p:sp>
      <p:pic>
        <p:nvPicPr>
          <p:cNvPr id="96" name="Picture 95" descr="浙江大学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7200" y="9784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建议研究路线与实验控制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85800" y="1828800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14400" y="19202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数据边界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46120" y="1920240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核对测点、容量、时间戳、限发、故障及天气发布时间；排除未来信息泄漏。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85800" y="2852928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4400" y="29443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时距对照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46120" y="2944368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固定15分钟粒度和测试期，对照1、2、4、8、12、18、24小时及持续性基准。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85800" y="3877056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14400" y="3968496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解释与事件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46120" y="396849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分步/分组SHAP、重训练消融；预先确定突降阈值与事件匹配窗口。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85800" y="4901184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14400" y="4992624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价值与稳定性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46120" y="4992624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补齐负荷、电价、储能和约束后做调度回测，再验证季节和设备迁移。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1520" y="606247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前向输入须为发布时可获得的真实天气预报；未来实测天气仅用于理论上界分析。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淘宝-想搞设计PPT(倒卖必究)-26">
            <a:extLst>
              <a:ext uri="{FF2B5EF4-FFF2-40B4-BE49-F238E27FC236}">
                <a16:creationId xmlns:a16="http://schemas.microsoft.com/office/drawing/2014/main" id="{EB92C67A-EFE0-DBAB-02B2-F4AF03CF8008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3" name="淘宝-想搞设计PPT(倒卖必究)-13">
            <a:extLst>
              <a:ext uri="{FF2B5EF4-FFF2-40B4-BE49-F238E27FC236}">
                <a16:creationId xmlns:a16="http://schemas.microsoft.com/office/drawing/2014/main" id="{179F53AF-18BC-3C1D-CAB3-020B9236B68D}"/>
              </a:ext>
            </a:extLst>
          </p:cNvPr>
          <p:cNvCxnSpPr/>
          <p:nvPr/>
        </p:nvCxnSpPr>
        <p:spPr>
          <a:xfrm>
            <a:off x="425752" y="1508520"/>
            <a:ext cx="1836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淘宝-想搞设计PPT(倒卖必究)-3"/>
          <p:cNvCxnSpPr/>
          <p:nvPr/>
        </p:nvCxnSpPr>
        <p:spPr>
          <a:xfrm>
            <a:off x="4594682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淘宝-想搞设计PPT(倒卖必究)-4"/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需求背景</a:t>
            </a:r>
          </a:p>
        </p:txBody>
      </p:sp>
      <p:sp>
        <p:nvSpPr>
          <p:cNvPr id="5" name="淘宝-想搞设计PPT(倒卖必究)-5"/>
          <p:cNvSpPr/>
          <p:nvPr/>
        </p:nvSpPr>
        <p:spPr>
          <a:xfrm>
            <a:off x="9841950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淘宝-想搞设计PPT(倒卖必究)-6"/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研究现状</a:t>
            </a:r>
          </a:p>
        </p:txBody>
      </p:sp>
      <p:cxnSp>
        <p:nvCxnSpPr>
          <p:cNvPr id="7" name="淘宝-想搞设计PPT(倒卖必究)-7"/>
          <p:cNvCxnSpPr/>
          <p:nvPr/>
        </p:nvCxnSpPr>
        <p:spPr>
          <a:xfrm>
            <a:off x="2858891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淘宝-想搞设计PPT(倒卖必究)-8"/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时距与评价</a:t>
            </a:r>
          </a:p>
        </p:txBody>
      </p:sp>
      <p:cxnSp>
        <p:nvCxnSpPr>
          <p:cNvPr id="9" name="淘宝-想搞设计PPT(倒卖必究)-9"/>
          <p:cNvCxnSpPr/>
          <p:nvPr/>
        </p:nvCxnSpPr>
        <p:spPr>
          <a:xfrm>
            <a:off x="6330474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淘宝-想搞设计PPT(倒卖必究)-10"/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研究空白</a:t>
            </a:r>
          </a:p>
        </p:txBody>
      </p:sp>
      <p:cxnSp>
        <p:nvCxnSpPr>
          <p:cNvPr id="11" name="淘宝-想搞设计PPT(倒卖必究)-11"/>
          <p:cNvCxnSpPr/>
          <p:nvPr/>
        </p:nvCxnSpPr>
        <p:spPr>
          <a:xfrm>
            <a:off x="806626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-想搞设计PPT(倒卖必究)-12"/>
          <p:cNvSpPr txBox="1"/>
          <p:nvPr/>
        </p:nvSpPr>
        <p:spPr>
          <a:xfrm>
            <a:off x="1009030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pic>
        <p:nvPicPr>
          <p:cNvPr id="35" name="Picture 34" descr="浙江大学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97840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总结与预期成果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1828800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19202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核心判断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1920240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预测时距由应用窗口、信息可用性、技能与运行收益共同决定。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2852928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294436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方法贡献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2944368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形成逐提前量误差、信息增益与关键事件能力之间的可复现证据。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3877056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3968496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成果形式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3968496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时距对照图、天气/季节分层结果、SHAP与消融比较、事件与运行评价。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4901184"/>
            <a:ext cx="10789920" cy="896112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4992624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00417D"/>
                </a:solidFill>
                <a:latin typeface="Microsoft YaHei"/>
              </a:defRPr>
            </a:pPr>
            <a:r>
              <a:t>结论边界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4992624"/>
            <a:ext cx="7909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24050"/>
                </a:solidFill>
                <a:latin typeface="Microsoft YaHei"/>
              </a:defRPr>
            </a:pPr>
            <a:r>
              <a:t>缺少负荷、电价、储能与约束时，只能比较预测性能及信息贡献，不能声称经济最优。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06247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本汇报基于提供的文献综述整理，未加入虚构实验数据或收益。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淘宝-想搞设计PPT(倒卖必究)-21">
            <a:extLst>
              <a:ext uri="{FF2B5EF4-FFF2-40B4-BE49-F238E27FC236}">
                <a16:creationId xmlns:a16="http://schemas.microsoft.com/office/drawing/2014/main" id="{7D32F253-D56D-A69E-DD62-828DD5EC1AB6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3" name="淘宝-想搞设计PPT(倒卖必究)-13">
            <a:extLst>
              <a:ext uri="{FF2B5EF4-FFF2-40B4-BE49-F238E27FC236}">
                <a16:creationId xmlns:a16="http://schemas.microsoft.com/office/drawing/2014/main" id="{C12D9DD6-CFF9-A986-7373-9056C6BB71E8}"/>
              </a:ext>
            </a:extLst>
          </p:cNvPr>
          <p:cNvCxnSpPr/>
          <p:nvPr/>
        </p:nvCxnSpPr>
        <p:spPr>
          <a:xfrm>
            <a:off x="425752" y="1508520"/>
            <a:ext cx="1836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淘宝-想搞设计PPT(倒卖必究)-3"/>
          <p:cNvCxnSpPr/>
          <p:nvPr/>
        </p:nvCxnSpPr>
        <p:spPr>
          <a:xfrm>
            <a:off x="4594682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淘宝-想搞设计PPT(倒卖必究)-4"/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需求背景</a:t>
            </a:r>
          </a:p>
        </p:txBody>
      </p:sp>
      <p:sp>
        <p:nvSpPr>
          <p:cNvPr id="5" name="淘宝-想搞设计PPT(倒卖必究)-5"/>
          <p:cNvSpPr/>
          <p:nvPr/>
        </p:nvSpPr>
        <p:spPr>
          <a:xfrm>
            <a:off x="9841950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淘宝-想搞设计PPT(倒卖必究)-6"/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研究现状</a:t>
            </a:r>
          </a:p>
        </p:txBody>
      </p:sp>
      <p:cxnSp>
        <p:nvCxnSpPr>
          <p:cNvPr id="7" name="淘宝-想搞设计PPT(倒卖必究)-7"/>
          <p:cNvCxnSpPr/>
          <p:nvPr/>
        </p:nvCxnSpPr>
        <p:spPr>
          <a:xfrm>
            <a:off x="2858891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淘宝-想搞设计PPT(倒卖必究)-8"/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时距与评价</a:t>
            </a:r>
          </a:p>
        </p:txBody>
      </p:sp>
      <p:cxnSp>
        <p:nvCxnSpPr>
          <p:cNvPr id="9" name="淘宝-想搞设计PPT(倒卖必究)-9"/>
          <p:cNvCxnSpPr/>
          <p:nvPr/>
        </p:nvCxnSpPr>
        <p:spPr>
          <a:xfrm>
            <a:off x="6330474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淘宝-想搞设计PPT(倒卖必究)-10"/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研究空白</a:t>
            </a:r>
          </a:p>
        </p:txBody>
      </p:sp>
      <p:cxnSp>
        <p:nvCxnSpPr>
          <p:cNvPr id="11" name="淘宝-想搞设计PPT(倒卖必究)-11"/>
          <p:cNvCxnSpPr/>
          <p:nvPr/>
        </p:nvCxnSpPr>
        <p:spPr>
          <a:xfrm>
            <a:off x="806626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-想搞设计PPT(倒卖必究)-12"/>
          <p:cNvSpPr txBox="1"/>
          <p:nvPr/>
        </p:nvSpPr>
        <p:spPr>
          <a:xfrm>
            <a:off x="1009030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pic>
        <p:nvPicPr>
          <p:cNvPr id="233" name="Picture 232" descr="浙江大学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sp>
        <p:nvSpPr>
          <p:cNvPr id="234" name="Rectangle 233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57200" y="9784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参考文献与标准（1/2）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40080" y="17830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[1] 国家市场监督管理总局, 国家标准化管理委员会. GB/T 19964—2024 光伏发电站接入电力系统技术规定[S]. 2024-03-15.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40080" y="21488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[2] 国家市场监督管理总局, 国家标准化管理委员会. GB/T 40607—2021 调度侧风电或光伏功率预测系统技术要求[S]. 2021-10-11.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40080" y="2514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[3] 国家能源局. NB/T 32031—2025 光伏发电功率预测系统功能规范[S]. 2025-09-28发布，2026-03-28实施.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40080" y="28803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[4] 中国电工技术学会. T/CES 139—2022 光伏发电功率概率预测技术要求[S]. 2022-09-26发布，2022-09-28实施.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40080" y="32461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[5] 国家发展改革委, 工业和信息化部, 国家能源局. 关于开展零碳园区建设的通知: 发改环资〔2025〕910号[Z]. 2025-06-30.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640080" y="3611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[6] 董存, 王铮, 白捷予, 等. 光伏发电功率超短期预测方法综述[J]. 高电压技术, 2023, 49(7): 2938-2951. DOI:10.13336/j.1003-6520.hve.20220974.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40080" y="39776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[7] 董明, 李晓枫, 杨章, 等. 基于数据驱动的分布式光伏发电功率预测方法研究进展[J]. 电网与清洁能源, 2024, 40(1): 8-17. DOI:10.3969/j.issn.1674-3814.2024.01.002.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40080" y="43434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[8] 赖昌伟, 黎静华, 陈博, 等. 光伏发电出力预测技术研究综述[J]. 电工技术学报, 2019, 34(6): 1201-1217. DOI:10.19595/j.cnki.1000-6753.tces.180326.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40080" y="47091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[9] 魏春晖, 单林森, 胡大栋, 等. 面向需求响应的园区虚拟电厂优化调度策略[J]. 中国电力, 2025, 58(6): 112-121. DOI:10.11930/j.issn.1004-9649.202410059.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640080" y="50749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[10] 李增伟, 王娅云, 张容福, 等. 基于SE-CNN-BiLSTM与改进Transformer的光伏功率多时间尺度预测方法[J]. 浙江电力, 2026, 45(3): 120-130. DOI:10.19585/j.zjdl.202603011.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640080" y="5440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[11] 严华江, 章坚民, 胡瑛俊, 等. 考虑空间相关性的分布式光伏发电出力预测及误差评价指标研究[J]. 浙江电力, 2020, 39(3): 54-60. DOI:10.19585/j.zjdl.202003009.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40080" y="5806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[12] Fu J, Sun Y, Li Y, et al. An investigation of photovoltaic power forecasting in buildings considering shadow effects: Modeling approach and SHAP analysis[J]. Renewable Energy, 2025, 245: 122821. DOI:10.1016/j.renene.2025.122821.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13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淘宝-想搞设计PPT(倒卖必究)-35">
            <a:extLst>
              <a:ext uri="{FF2B5EF4-FFF2-40B4-BE49-F238E27FC236}">
                <a16:creationId xmlns:a16="http://schemas.microsoft.com/office/drawing/2014/main" id="{6556E547-C08D-6B61-EA4A-ED35B4D1AF72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3" name="淘宝-想搞设计PPT(倒卖必究)-13">
            <a:extLst>
              <a:ext uri="{FF2B5EF4-FFF2-40B4-BE49-F238E27FC236}">
                <a16:creationId xmlns:a16="http://schemas.microsoft.com/office/drawing/2014/main" id="{D3158DA0-8F8A-BA94-23A0-4BDAAFF032E7}"/>
              </a:ext>
            </a:extLst>
          </p:cNvPr>
          <p:cNvCxnSpPr/>
          <p:nvPr/>
        </p:nvCxnSpPr>
        <p:spPr>
          <a:xfrm>
            <a:off x="425752" y="1508520"/>
            <a:ext cx="1836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淘宝-想搞设计PPT(倒卖必究)-3"/>
          <p:cNvCxnSpPr/>
          <p:nvPr/>
        </p:nvCxnSpPr>
        <p:spPr>
          <a:xfrm>
            <a:off x="4594682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淘宝-想搞设计PPT(倒卖必究)-4"/>
          <p:cNvSpPr txBox="1"/>
          <p:nvPr/>
        </p:nvSpPr>
        <p:spPr>
          <a:xfrm>
            <a:off x="3147141" y="211334"/>
            <a:ext cx="11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需求背景</a:t>
            </a:r>
          </a:p>
        </p:txBody>
      </p:sp>
      <p:sp>
        <p:nvSpPr>
          <p:cNvPr id="5" name="淘宝-想搞设计PPT(倒卖必究)-5"/>
          <p:cNvSpPr/>
          <p:nvPr/>
        </p:nvSpPr>
        <p:spPr>
          <a:xfrm>
            <a:off x="9841950" y="0"/>
            <a:ext cx="1656000" cy="792000"/>
          </a:xfrm>
          <a:prstGeom prst="rect">
            <a:avLst/>
          </a:prstGeom>
          <a:solidFill>
            <a:srgbClr val="1138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淘宝-想搞设计PPT(倒卖必究)-6"/>
          <p:cNvSpPr txBox="1"/>
          <p:nvPr/>
        </p:nvSpPr>
        <p:spPr>
          <a:xfrm>
            <a:off x="4882932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研究现状</a:t>
            </a:r>
          </a:p>
        </p:txBody>
      </p:sp>
      <p:cxnSp>
        <p:nvCxnSpPr>
          <p:cNvPr id="7" name="淘宝-想搞设计PPT(倒卖必究)-7"/>
          <p:cNvCxnSpPr/>
          <p:nvPr/>
        </p:nvCxnSpPr>
        <p:spPr>
          <a:xfrm>
            <a:off x="2858891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淘宝-想搞设计PPT(倒卖必究)-8"/>
          <p:cNvSpPr txBox="1"/>
          <p:nvPr/>
        </p:nvSpPr>
        <p:spPr>
          <a:xfrm>
            <a:off x="6375067" y="21133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时距与评价</a:t>
            </a:r>
          </a:p>
        </p:txBody>
      </p:sp>
      <p:cxnSp>
        <p:nvCxnSpPr>
          <p:cNvPr id="9" name="淘宝-想搞设计PPT(倒卖必究)-9"/>
          <p:cNvCxnSpPr/>
          <p:nvPr/>
        </p:nvCxnSpPr>
        <p:spPr>
          <a:xfrm>
            <a:off x="6330474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淘宝-想搞设计PPT(倒卖必究)-10"/>
          <p:cNvSpPr txBox="1"/>
          <p:nvPr/>
        </p:nvSpPr>
        <p:spPr>
          <a:xfrm>
            <a:off x="835451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t>研究空白</a:t>
            </a:r>
          </a:p>
        </p:txBody>
      </p:sp>
      <p:cxnSp>
        <p:nvCxnSpPr>
          <p:cNvPr id="11" name="淘宝-想搞设计PPT(倒卖必究)-11"/>
          <p:cNvCxnSpPr/>
          <p:nvPr/>
        </p:nvCxnSpPr>
        <p:spPr>
          <a:xfrm>
            <a:off x="8066265" y="252000"/>
            <a:ext cx="0" cy="28800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-想搞设计PPT(倒卖必究)-12"/>
          <p:cNvSpPr txBox="1"/>
          <p:nvPr/>
        </p:nvSpPr>
        <p:spPr>
          <a:xfrm>
            <a:off x="10090304" y="21133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研究路线</a:t>
            </a:r>
          </a:p>
        </p:txBody>
      </p:sp>
      <p:pic>
        <p:nvPicPr>
          <p:cNvPr id="53" name="Picture 52" descr="浙江大学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020" y="158235"/>
            <a:ext cx="2011854" cy="617224"/>
          </a:xfrm>
          <a:prstGeom prst="rect">
            <a:avLst/>
          </a:prstGeom>
        </p:spPr>
      </p:pic>
      <p:pic>
        <p:nvPicPr>
          <p:cNvPr id="54" name="Picture 53" descr="666f30bf9bd92a2105147fd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279" y="1616909"/>
            <a:ext cx="3353120" cy="4469959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274320" y="1691640"/>
            <a:ext cx="11612880" cy="4736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9784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417D"/>
                </a:solidFill>
                <a:latin typeface="Microsoft YaHei"/>
              </a:defRPr>
            </a:pPr>
            <a:r>
              <a:t>参考文献与标准（2/2）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17830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[13] Mitrentsis G, Lens H. An interpretable probabilistic model for short-term solar power forecasting using natural gradient boosting[J]. Applied Energy, 2022, 309: 118473. DOI:10.1016/j.apenergy.2021.118473.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21488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[14] Tufail S. Explainable AI in solar PV forecasting: A systematic review of models, explainers, and physical drivers[J]. Solar Compass, 2026, 19: 100182. DOI:10.1016/j.solcom.2026.100182.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2514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[15] Yang D, Alessandrini S, Antonanzas J, et al. Verification of deterministic solar forecasts[J]. Solar Energy, 2020, 210: 20-37. DOI:10.1016/j.solener.2020.04.019.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28803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[16] Nguyen T N, Müsgens F. What drives the accuracy of PV output forecasts?[J]. Applied Energy, 2022, 323: 119603. DOI:10.1016/j.apenergy.2022.119603.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32461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[17] Lauret P, Alonso-Suárez R, Amaro e Silva R, et al. The added value of combining solar irradiance data and forecasts: A probabilistic benchmarking exercise[J]. Renewable Energy, 2024, 237: 121574. DOI:10.1016/j.renene.2024.121574.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3611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[18] Polášek T, Čadík M. Predicting photovoltaic power production using high-uncertainty weather forecasts[J]. Applied Energy, 2023, 339: 120989. DOI:10.1016/j.apenergy.2023.120989.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39776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[19] Nouri B, Fabel Y, Blum N, et al. Ramp Rate Metric Suitable for Solar Forecasting[J]. Solar RRL, 2024, 8(24): 2400468. DOI:10.1002/solr.202400468.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43434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[20] Gandhi O, Zhang W, Kumar D S, et al. The value of solar forecasts and the cost of their errors: A review[J]. Renewable and Sustainable Energy Reviews, 2024, 189: 113915. DOI:10.1016/j.rser.2023.113915.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47091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[21] Brown P, Göl M. Bayesian probabilistic photovoltaic power forecasting and stochastic model-predictive control for an agricultural microgrid[J]. Solar Energy, 2026, 304: 114197. DOI:10.1016/j.solener.2025.114197.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50749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[22] Zhang Y, Zhang Y, Dai Z, et al. Rethinking the use of deep learning methods for photovoltaic power forecasting[J]. Nature Communications, 2026. DOI:10.1038/s41467-026-73817-3.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5440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[23] 朱涛, 杨欢红, 肖峰, 等. 基于改进灰狼算法和TCN-QRF的超短期光伏出力概率预测[J]. 浙江电力, 2024, 43(8): 85-93. DOI:10.19585/j.zjdl.202408010.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5806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324050"/>
                </a:solidFill>
                <a:latin typeface="Microsoft YaHei"/>
              </a:defRPr>
            </a:pPr>
            <a:r>
              <a:t>[24] 蒋建东, 周才期, 常轶哲, 等. 基于时序误差分布分析的光伏功率区间预测[J]. 郑州大学学报(理学版), 2026, 58(3): 86-94. DOI:10.13705/j.issn.1671-6841.2024155.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55680" y="64556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24050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33685F02-69BE-9E12-E137-5837CAD8D332}"/>
              </a:ext>
            </a:extLst>
          </p:cNvPr>
          <p:cNvGrpSpPr/>
          <p:nvPr/>
        </p:nvGrpSpPr>
        <p:grpSpPr>
          <a:xfrm>
            <a:off x="-436888" y="-1730762"/>
            <a:ext cx="12895588" cy="8839637"/>
            <a:chOff x="154818" y="692389"/>
            <a:chExt cx="12895588" cy="8839637"/>
          </a:xfrm>
        </p:grpSpPr>
        <p:pic>
          <p:nvPicPr>
            <p:cNvPr id="23" name="Picture 22" descr="667457faa81f4d16e80c0304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3895" y="1829966"/>
              <a:ext cx="12229811" cy="7643633"/>
            </a:xfrm>
            <a:prstGeom prst="rect">
              <a:avLst/>
            </a:prstGeom>
          </p:spPr>
        </p:pic>
        <p:sp>
          <p:nvSpPr>
            <p:cNvPr id="20" name="淘宝-想搞设计PPT(倒卖必究)-20">
              <a:extLst>
                <a:ext uri="{FF2B5EF4-FFF2-40B4-BE49-F238E27FC236}">
                  <a16:creationId xmlns:a16="http://schemas.microsoft.com/office/drawing/2014/main" id="{ED616FE5-A96A-ACDF-4AF5-2DB8363DE708}"/>
                </a:ext>
              </a:extLst>
            </p:cNvPr>
            <p:cNvSpPr/>
            <p:nvPr/>
          </p:nvSpPr>
          <p:spPr>
            <a:xfrm>
              <a:off x="154818" y="7406817"/>
              <a:ext cx="12895588" cy="21252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淘宝-想搞设计PPT(倒卖必究)-21">
              <a:extLst>
                <a:ext uri="{FF2B5EF4-FFF2-40B4-BE49-F238E27FC236}">
                  <a16:creationId xmlns:a16="http://schemas.microsoft.com/office/drawing/2014/main" id="{A0211BF9-8DD9-4409-093D-0D274FB4F1DF}"/>
                </a:ext>
              </a:extLst>
            </p:cNvPr>
            <p:cNvSpPr/>
            <p:nvPr/>
          </p:nvSpPr>
          <p:spPr>
            <a:xfrm>
              <a:off x="340786" y="692389"/>
              <a:ext cx="12442920" cy="38252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淘宝-想搞设计PPT(倒卖必究)-3"/>
          <p:cNvSpPr/>
          <p:nvPr/>
        </p:nvSpPr>
        <p:spPr>
          <a:xfrm>
            <a:off x="-250920" y="2101037"/>
            <a:ext cx="12442920" cy="2880000"/>
          </a:xfrm>
          <a:prstGeom prst="rect">
            <a:avLst/>
          </a:prstGeom>
          <a:solidFill>
            <a:srgbClr val="113884">
              <a:alpha val="7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淘宝-想搞设计PPT(倒卖必究)-7"/>
          <p:cNvSpPr txBox="1"/>
          <p:nvPr/>
        </p:nvSpPr>
        <p:spPr>
          <a:xfrm>
            <a:off x="3047213" y="5680998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汇报人：待填写</a:t>
            </a:r>
          </a:p>
        </p:txBody>
      </p:sp>
      <p:sp>
        <p:nvSpPr>
          <p:cNvPr id="8" name="淘宝-想搞设计PPT(倒卖必究)-8"/>
          <p:cNvSpPr txBox="1"/>
          <p:nvPr/>
        </p:nvSpPr>
        <p:spPr>
          <a:xfrm>
            <a:off x="6651797" y="5680998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指导教师：待填写</a:t>
            </a:r>
          </a:p>
        </p:txBody>
      </p:sp>
      <p:sp>
        <p:nvSpPr>
          <p:cNvPr id="9" name="淘宝-想搞设计PPT(倒卖必究)-9"/>
          <p:cNvSpPr txBox="1"/>
          <p:nvPr/>
        </p:nvSpPr>
        <p:spPr>
          <a:xfrm>
            <a:off x="1156189" y="2645414"/>
            <a:ext cx="98796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b="1" spc="300">
                <a:solidFill>
                  <a:schemeClr val="bg1"/>
                </a:solidFill>
                <a:cs typeface="+mn-ea"/>
                <a:sym typeface="+mn-lt"/>
              </a:rPr>
              <a:t>感谢各位专家老师批评指正</a:t>
            </a:r>
          </a:p>
        </p:txBody>
      </p:sp>
      <p:pic>
        <p:nvPicPr>
          <p:cNvPr id="24" name="Picture 23" descr="浙江大学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756" y="374223"/>
            <a:ext cx="4152487" cy="1273958"/>
          </a:xfrm>
          <a:prstGeom prst="rect">
            <a:avLst/>
          </a:prstGeom>
        </p:spPr>
      </p:pic>
      <p:sp>
        <p:nvSpPr>
          <p:cNvPr id="22" name="淘宝-想搞设计PPT(倒卖必究)-22">
            <a:extLst>
              <a:ext uri="{FF2B5EF4-FFF2-40B4-BE49-F238E27FC236}">
                <a16:creationId xmlns:a16="http://schemas.microsoft.com/office/drawing/2014/main" id="{A5DC209B-59B5-0C0C-07CA-E93475701355}"/>
              </a:ext>
            </a:extLst>
          </p:cNvPr>
          <p:cNvSpPr txBox="1"/>
          <p:nvPr/>
        </p:nvSpPr>
        <p:spPr>
          <a:xfrm>
            <a:off x="4927626" y="3974621"/>
            <a:ext cx="2085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学术汇报 · 文献综述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NkNDYxMmIwNmM5NTY2OTdkODYxNGM2OGY2YmI2O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68399;#152018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788455;#216390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3rrne3h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3676</TotalTime>
  <Words>1953</Words>
  <Application>Microsoft Office PowerPoint</Application>
  <PresentationFormat>宽屏</PresentationFormat>
  <Paragraphs>460</Paragraphs>
  <Slides>27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Alibaba PuHuiTi</vt:lpstr>
      <vt:lpstr>Alibaba PuHuiTi Medium</vt:lpstr>
      <vt:lpstr>Inter</vt:lpstr>
      <vt:lpstr>等线</vt:lpstr>
      <vt:lpstr>思源黑体 CN Heavy</vt:lpstr>
      <vt:lpstr>微软雅黑</vt:lpstr>
      <vt:lpstr>Arial</vt:lpstr>
      <vt:lpstr>Calibri</vt:lpstr>
      <vt:lpstr>Tahoma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 M.Y.</dc:creator>
  <cp:lastModifiedBy>1 pompeya</cp:lastModifiedBy>
  <cp:revision>188</cp:revision>
  <dcterms:created xsi:type="dcterms:W3CDTF">2019-07-31T06:15:00Z</dcterms:created>
  <dcterms:modified xsi:type="dcterms:W3CDTF">2025-02-22T13:11:33Z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022A88C5D12D4945ADE0ED2726AF53ED</vt:lpwstr>
  </property>
  <property fmtid="{D5CDD505-2E9C-101B-9397-08002B2CF9AE}" pid="3" name="KSOProductBuildVer">
    <vt:lpwstr>2052-12.1.0.16417</vt:lpwstr>
  </property>
</Properties>
</file>